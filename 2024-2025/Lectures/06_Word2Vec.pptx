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1"/>
  </p:sldMasterIdLst>
  <p:notesMasterIdLst>
    <p:notesMasterId r:id="rId21"/>
  </p:notesMasterIdLst>
  <p:handoutMasterIdLst>
    <p:handoutMasterId r:id="rId22"/>
  </p:handoutMasterIdLst>
  <p:sldIdLst>
    <p:sldId id="480" r:id="rId2"/>
    <p:sldId id="481" r:id="rId3"/>
    <p:sldId id="482" r:id="rId4"/>
    <p:sldId id="716" r:id="rId5"/>
    <p:sldId id="597" r:id="rId6"/>
    <p:sldId id="659" r:id="rId7"/>
    <p:sldId id="683" r:id="rId8"/>
    <p:sldId id="701" r:id="rId9"/>
    <p:sldId id="831" r:id="rId10"/>
    <p:sldId id="830" r:id="rId11"/>
    <p:sldId id="838" r:id="rId12"/>
    <p:sldId id="279" r:id="rId13"/>
    <p:sldId id="832" r:id="rId14"/>
    <p:sldId id="834" r:id="rId15"/>
    <p:sldId id="835" r:id="rId16"/>
    <p:sldId id="836" r:id="rId17"/>
    <p:sldId id="837" r:id="rId18"/>
    <p:sldId id="568" r:id="rId19"/>
    <p:sldId id="570" r:id="rId20"/>
  </p:sldIdLst>
  <p:sldSz cx="9144000" cy="6858000" type="screen4x3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FFCC99"/>
    <a:srgbClr val="90D75B"/>
    <a:srgbClr val="9933FF"/>
    <a:srgbClr val="0000FF"/>
    <a:srgbClr val="FF00FF"/>
    <a:srgbClr val="FF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0" autoAdjust="0"/>
    <p:restoredTop sz="93792" autoAdjust="0"/>
  </p:normalViewPr>
  <p:slideViewPr>
    <p:cSldViewPr>
      <p:cViewPr>
        <p:scale>
          <a:sx n="75" d="100"/>
          <a:sy n="75" d="100"/>
        </p:scale>
        <p:origin x="104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5192"/>
    </p:cViewPr>
  </p:outlin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A6EB47-0DD2-4627-5159-0EF89A54B7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76745-58C2-6FB8-EA93-203BE0CF81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182A351-004E-4DFC-B754-AF01BB34E6C7}" type="datetimeFigureOut">
              <a:rPr lang="en-US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A360A-CBEB-20DB-65EA-672FD5C9E8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A8D3A-7063-9415-CF52-96D57B5868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F84382-9B38-4BF0-A0BD-783B3A9C73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8B1CE3C6-0BDB-43B5-CDB7-07519AEA9B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B2AB7F89-43BC-6661-B502-F79BB954AB7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656B2A7-0CD9-C468-DA54-3BBF76A47C0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7333" name="Rectangle 5">
            <a:extLst>
              <a:ext uri="{FF2B5EF4-FFF2-40B4-BE49-F238E27FC236}">
                <a16:creationId xmlns:a16="http://schemas.microsoft.com/office/drawing/2014/main" id="{20A94FC4-A683-F769-0EE5-10921D26E6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9300"/>
            <a:ext cx="585470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27334" name="Rectangle 6">
            <a:extLst>
              <a:ext uri="{FF2B5EF4-FFF2-40B4-BE49-F238E27FC236}">
                <a16:creationId xmlns:a16="http://schemas.microsoft.com/office/drawing/2014/main" id="{4CE3D363-2E23-2F79-FE2A-DE6CAF6CBC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7335" name="Rectangle 7">
            <a:extLst>
              <a:ext uri="{FF2B5EF4-FFF2-40B4-BE49-F238E27FC236}">
                <a16:creationId xmlns:a16="http://schemas.microsoft.com/office/drawing/2014/main" id="{9B4AB0A6-A026-3A71-89BE-0AE5E0DFF6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8B195E-403B-49CA-9CA6-570FCBB417C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392375AE-75D1-A508-485B-525FF0ECAAFD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93B57BFA-038A-F742-6E4E-E82389F153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6528C358-4410-F4D9-766C-186EEB5738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rgbClr val="90D75B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C567BA5B-2A89-A0E2-D06E-AE7124E8E0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176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510DB82-9C1D-50E3-987A-7388FD58F8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05FCAE4-3653-DE08-04DC-DCA2FB30CB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3FE068E-CA8E-7CBD-2A53-62F03A616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21E40-A034-48EF-8DFD-5EAAC75003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932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7813"/>
            <a:ext cx="8568952" cy="702915"/>
          </a:xfrm>
        </p:spPr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640960" cy="561662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21D246-9AA7-64D2-2AF6-83A1E10F2F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93BD0F-16E9-64EC-05F7-5B62193342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59F048-FAF5-46A3-59B2-D59DA4EAF4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FAF61-6C4F-45BD-8D81-97A4593AAE6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3283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  <a:p>
            <a:pPr lvl="4"/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3FBD62-8635-A5B3-6D11-18037AEAFE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12725" y="6657975"/>
            <a:ext cx="2133600" cy="1793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9E010E-6B92-FA12-D399-A1A70464B5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403350" y="6657975"/>
            <a:ext cx="6264275" cy="2460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031600-E663-B2AD-1E18-D61FC6129D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669088"/>
            <a:ext cx="2133600" cy="1889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F4964-4D72-4358-AB8A-09A69D8EA59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84782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A93875-BAFF-A5C8-6522-D02C1D2144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9D0010-68A6-1706-8118-05C94116E3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28A558-4F27-9A11-CF97-4414FF1CD7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9523AC-760C-4E8F-A79B-7FA7E66826E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5929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4CA5F3-02D1-A0B3-8F5E-95566FA183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5AE97-466C-A908-1B0D-624AE1E807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4ACFB-4585-7F14-F8D2-58826DF53F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6D8B7-F161-4780-A66E-E68230D2E07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73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F77501-59A0-46CA-4ED0-90AE9DBE09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93EB03-184A-D6F3-7390-3DFF6C510C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8D2976E-4741-69B7-70C6-B0FFCE3CE1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6C8B19-2F51-46EC-ADAE-005A4866811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3837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59E674F-A3BF-45B7-B1E8-D0EE661261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BECBB2-123A-A855-1545-E16B6919E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58E978-62FC-7CD0-8566-2079731EDA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A3FA1-31CA-4A5C-8CFB-50C347B3044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3057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DEB1493-457C-47C2-5994-842FC9DD9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04759AD-C295-118F-8F04-A2B2153AA9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5E94E91-7A21-3291-C981-BE3584C3D4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296CC-E06F-40DD-9C7F-E122F651BAF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861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38B72D-FD5C-41D2-35D9-05396766C1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68BFB6-ECAA-DBF1-13D3-C54A62202F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C0AC83-4BFF-A802-FDC2-A82F61D192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5A6EB-FB4D-4FCC-B3E4-8CD2FE2598C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1964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B5593F-29F7-63EE-5358-5049788087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844A3-A721-AB12-59D9-C1116620DF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3E37B3-FCFC-6BD6-3926-98045EE443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3E225-91A8-45FD-8CE4-314CBDB2F88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251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DE73C9-82E7-BF72-ECF5-84058B57E0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F52424-424A-EBAC-13FC-E200487CCA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4B234F-F29A-EC30-5EAC-BC92F2A09D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8EAF7D-42A8-4B30-B2D2-C073755AA76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75275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866F23-0E37-AD9E-2E05-61AD370D7D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F4047B-E991-EC01-E17A-4B00E99128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4B4795-F1C2-5370-DEC2-A8A91AB675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C14250-DC76-44FA-9292-2315514BA64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23183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289008-BE68-16FC-5A6F-368F0EB0F3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9E445E-373F-C961-7407-E72716782B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39E35-D79F-9CE5-7FBA-9674D6595F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02A0A-6459-467A-B0CB-D9DAECD625D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71648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9D959A-AF07-98CA-69A8-C305690CEF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0B0E14-2F00-104F-17B3-AF9346B9F6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F0E933-F7A0-BCE3-6AEB-69ABDEE737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26FBF-B42D-467D-A498-CC14225BE66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0480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848A9E-F48D-C09A-B9F5-CAFBEF0E4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15888"/>
            <a:ext cx="864076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96C439-4D2A-0887-4076-03C8FE165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96975"/>
            <a:ext cx="8640763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75108" name="Rectangle 4">
            <a:extLst>
              <a:ext uri="{FF2B5EF4-FFF2-40B4-BE49-F238E27FC236}">
                <a16:creationId xmlns:a16="http://schemas.microsoft.com/office/drawing/2014/main" id="{54B402B8-0DF1-7DDA-D7D5-055BB9CD9D8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175109" name="Rectangle 5">
            <a:extLst>
              <a:ext uri="{FF2B5EF4-FFF2-40B4-BE49-F238E27FC236}">
                <a16:creationId xmlns:a16="http://schemas.microsoft.com/office/drawing/2014/main" id="{F226E361-88BC-0E71-CD08-52F9B7556E0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175110" name="Rectangle 6">
            <a:extLst>
              <a:ext uri="{FF2B5EF4-FFF2-40B4-BE49-F238E27FC236}">
                <a16:creationId xmlns:a16="http://schemas.microsoft.com/office/drawing/2014/main" id="{29CAC3E7-9FB5-4382-A9A0-BCD789A7BCE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8457D79E-5D88-4FCC-9377-363DC56CDBB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951CCD6-5F56-D35E-487D-90893BFC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FB6A8C9C-74CB-95E3-AFAA-536591955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125538"/>
            <a:ext cx="8077200" cy="0"/>
          </a:xfrm>
          <a:prstGeom prst="line">
            <a:avLst/>
          </a:prstGeom>
          <a:noFill/>
          <a:ln w="19050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0282B41D-7ACF-A8D1-4D41-4BC991779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0D75B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9785432-9B3D-52F8-ABCD-B9ABEB687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9966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61" r:id="rId1"/>
    <p:sldLayoutId id="2147484649" r:id="rId2"/>
    <p:sldLayoutId id="2147484662" r:id="rId3"/>
    <p:sldLayoutId id="2147484650" r:id="rId4"/>
    <p:sldLayoutId id="2147484651" r:id="rId5"/>
    <p:sldLayoutId id="2147484652" r:id="rId6"/>
    <p:sldLayoutId id="2147484653" r:id="rId7"/>
    <p:sldLayoutId id="2147484654" r:id="rId8"/>
    <p:sldLayoutId id="2147484655" r:id="rId9"/>
    <p:sldLayoutId id="2147484656" r:id="rId10"/>
    <p:sldLayoutId id="2147484657" r:id="rId11"/>
    <p:sldLayoutId id="2147484658" r:id="rId12"/>
    <p:sldLayoutId id="2147484659" r:id="rId13"/>
    <p:sldLayoutId id="2147484660" r:id="rId1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0D75B"/>
        </a:buClr>
        <a:buSzPct val="6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0D75B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adimrehurek.com/gensim/models/word2vec.html" TargetMode="External"/><Relationship Id="rId2" Type="http://schemas.openxmlformats.org/officeDocument/2006/relationships/hyperlink" Target="https://www.tensorflow.org/text/tutorials/word2vec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nlp.stanford.edu/~manning/" TargetMode="External"/><Relationship Id="rId5" Type="http://schemas.openxmlformats.org/officeDocument/2006/relationships/hyperlink" Target="https://aylien.com/blog/a-review-of-the-recent-history-of-natural-language-processing?ref=ruder.io" TargetMode="External"/><Relationship Id="rId4" Type="http://schemas.openxmlformats.org/officeDocument/2006/relationships/hyperlink" Target="https://www.ruder.io/word-embeddings-1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405.4053" TargetMode="External"/><Relationship Id="rId13" Type="http://schemas.openxmlformats.org/officeDocument/2006/relationships/hyperlink" Target="https://arxiv.org/abs/1801.06146" TargetMode="External"/><Relationship Id="rId3" Type="http://schemas.openxmlformats.org/officeDocument/2006/relationships/hyperlink" Target="https://ronan.collobert.com/pub/matos/2008_nlp_icml.pdf" TargetMode="External"/><Relationship Id="rId7" Type="http://schemas.openxmlformats.org/officeDocument/2006/relationships/hyperlink" Target="https://github.com/3Top/word2vec-api#where-to-get-a-pretrained-models" TargetMode="External"/><Relationship Id="rId12" Type="http://schemas.openxmlformats.org/officeDocument/2006/relationships/hyperlink" Target="https://www.aclweb.org/anthology/N18-1202/" TargetMode="External"/><Relationship Id="rId2" Type="http://schemas.openxmlformats.org/officeDocument/2006/relationships/hyperlink" Target="https://www.jmlr.org/papers/volume3/bengio03a/bengio03a.pdf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adimrehurek.com/gensim/models/word2vec.html" TargetMode="External"/><Relationship Id="rId11" Type="http://schemas.openxmlformats.org/officeDocument/2006/relationships/hyperlink" Target="https://papers.nips.cc/paper/2017/hash/20c86a628232a67e7bd46f76fba7ce12-Abstract.html" TargetMode="External"/><Relationship Id="rId5" Type="http://schemas.openxmlformats.org/officeDocument/2006/relationships/hyperlink" Target="https://ronxin.github.io/wevi/" TargetMode="External"/><Relationship Id="rId10" Type="http://schemas.openxmlformats.org/officeDocument/2006/relationships/hyperlink" Target="https://arxiv.org/abs/1705.00108" TargetMode="External"/><Relationship Id="rId4" Type="http://schemas.openxmlformats.org/officeDocument/2006/relationships/hyperlink" Target="https://papers.nips.cc/paper/2013/file/9aa42b31882ec039965f3c4923ce901b-Paper.pdf" TargetMode="External"/><Relationship Id="rId9" Type="http://schemas.openxmlformats.org/officeDocument/2006/relationships/hyperlink" Target="https://www.aclweb.org/anthology/K16-1006.pdf" TargetMode="External"/><Relationship Id="rId14" Type="http://schemas.openxmlformats.org/officeDocument/2006/relationships/hyperlink" Target="https://arxiv.org/abs/1810.04805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bbcluj.ro/~cgrosan" TargetMode="External"/><Relationship Id="rId2" Type="http://schemas.openxmlformats.org/officeDocument/2006/relationships/hyperlink" Target="http://www.cs.ubbcluj.ro/~moltean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raduionescu.herokuapp.com/" TargetMode="External"/><Relationship Id="rId4" Type="http://schemas.openxmlformats.org/officeDocument/2006/relationships/hyperlink" Target="http://www.cs.ubbcluj.ro/~hfpo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7796D6D-0D99-A1D0-C434-CED3B1B07C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ro-RO" altLang="en-US" sz="4800"/>
              <a:t>INTELIGENŢĂ ARTIFICIALĂ</a:t>
            </a:r>
            <a:endParaRPr lang="en-GB" altLang="en-US" sz="480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4B87B43-B504-A47D-1E98-EAC73ACF1C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59288"/>
            <a:ext cx="6400800" cy="2209800"/>
          </a:xfrm>
        </p:spPr>
        <p:txBody>
          <a:bodyPr/>
          <a:lstStyle/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r>
              <a:rPr lang="ro-RO" altLang="en-US"/>
              <a:t>Laura Dioşan</a:t>
            </a:r>
            <a:endParaRPr lang="en-GB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505DC85-BF17-D3E8-D093-49BFE297B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429000"/>
            <a:ext cx="5545138" cy="120015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ro-RO" b="1" dirty="0">
                <a:solidFill>
                  <a:schemeClr val="accent5">
                    <a:lumMod val="75000"/>
                  </a:schemeClr>
                </a:solidFill>
              </a:rPr>
              <a:t>Sisteme inteligente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ro-RO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Sisteme care învaţă singure</a:t>
            </a: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ro-RO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–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generative AI</a:t>
            </a:r>
            <a:r>
              <a:rPr lang="ro-RO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245F2354-DA97-AAEB-A671-6CAA48BEA8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Sumar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E2697-BD05-62F9-F1F7-CB75B7DBD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ro-RO" sz="2000" dirty="0">
                <a:solidFill>
                  <a:schemeClr val="bg1">
                    <a:lumMod val="75000"/>
                  </a:schemeClr>
                </a:solidFill>
              </a:rPr>
              <a:t>Scurtă introducere în Inteligenţa Artificială (IA)</a:t>
            </a:r>
            <a:endParaRPr lang="en-GB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 startAt="2"/>
              <a:defRPr/>
            </a:pPr>
            <a:endParaRPr lang="ro-RO" sz="2000" dirty="0"/>
          </a:p>
          <a:p>
            <a:pPr eaLnBrk="1" hangingPunct="1">
              <a:lnSpc>
                <a:spcPct val="80000"/>
              </a:lnSpc>
              <a:buFont typeface="+mj-lt"/>
              <a:buAutoNum type="alphaUcPeriod" startAt="3"/>
              <a:defRPr/>
            </a:pPr>
            <a:endParaRPr lang="ro-RO" sz="2000" dirty="0"/>
          </a:p>
          <a:p>
            <a:pPr eaLnBrk="1" hangingPunct="1">
              <a:lnSpc>
                <a:spcPct val="80000"/>
              </a:lnSpc>
              <a:buFont typeface="+mj-lt"/>
              <a:buAutoNum type="alphaUcPeriod" startAt="3"/>
              <a:defRPr/>
            </a:pPr>
            <a:r>
              <a:rPr lang="en-US" sz="2000" dirty="0" err="1"/>
              <a:t>Sisteme</a:t>
            </a:r>
            <a:r>
              <a:rPr lang="en-US" sz="2000" dirty="0"/>
              <a:t> </a:t>
            </a:r>
            <a:r>
              <a:rPr lang="en-US" sz="2000" dirty="0" err="1"/>
              <a:t>inteligente</a:t>
            </a:r>
            <a:r>
              <a:rPr lang="en-US" sz="2000" dirty="0"/>
              <a:t> </a:t>
            </a:r>
            <a:endParaRPr lang="ro-RO" sz="20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/>
              <a:t>Sisteme care învaţă singure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Arbori de decizie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b="1" dirty="0"/>
              <a:t>Reţele neuronale artificiale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sz="1050" dirty="0" err="1">
                <a:solidFill>
                  <a:schemeClr val="bg1">
                    <a:lumMod val="75000"/>
                  </a:schemeClr>
                </a:solidFill>
              </a:rPr>
              <a:t>kNN</a:t>
            </a:r>
            <a:endParaRPr lang="en-US" sz="105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Algoritmi evolutivi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Maşini cu suport vectorial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steme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bazate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pe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reguli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Sisteme hibride </a:t>
            </a: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 startAt="2"/>
              <a:defRPr/>
            </a:pPr>
            <a:r>
              <a:rPr lang="ro-RO" sz="2000" dirty="0">
                <a:solidFill>
                  <a:schemeClr val="bg1">
                    <a:lumMod val="85000"/>
                  </a:schemeClr>
                </a:solidFill>
              </a:rPr>
              <a:t>Rezolvarea problemelor prin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85000"/>
                  </a:schemeClr>
                </a:solidFill>
              </a:rPr>
              <a:t>Definirea problemelor de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85000"/>
                  </a:schemeClr>
                </a:solidFill>
              </a:rPr>
              <a:t>Strategii de căutare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neinformate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informate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locale (Hill Climbing, Simulated Annealing, Tabu Search</a:t>
            </a: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, Algoritmi evolutivi, PSO, ACO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vi-VN" sz="1200" dirty="0">
                <a:solidFill>
                  <a:schemeClr val="bg1">
                    <a:lumMod val="75000"/>
                  </a:schemeClr>
                </a:solidFill>
              </a:rPr>
              <a:t>adversială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172" name="Slide Number Placeholder 4">
            <a:extLst>
              <a:ext uri="{FF2B5EF4-FFF2-40B4-BE49-F238E27FC236}">
                <a16:creationId xmlns:a16="http://schemas.microsoft.com/office/drawing/2014/main" id="{071115CA-3487-2BD8-D7B4-2CB2AF2F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EDF7A5-3B95-4A5E-B158-1E0E5648E887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GB" altLang="en-US" sz="1000"/>
          </a:p>
        </p:txBody>
      </p:sp>
      <p:sp>
        <p:nvSpPr>
          <p:cNvPr id="7173" name="Footer Placeholder 5">
            <a:extLst>
              <a:ext uri="{FF2B5EF4-FFF2-40B4-BE49-F238E27FC236}">
                <a16:creationId xmlns:a16="http://schemas.microsoft.com/office/drawing/2014/main" id="{0BD96660-9205-65BA-88ED-C13B2C54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vi-VN" altLang="en-US" sz="1000"/>
              <a:t>Inteligenţă artificială - generative AI</a:t>
            </a:r>
            <a:endParaRPr lang="en-GB" alt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DF766FBA-6EC2-6E25-4741-6BA8C109CB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altLang="en-US"/>
              <a:t>Materiale de citit şi legături utile</a:t>
            </a:r>
            <a:endParaRPr lang="en-US" altLang="en-US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D1EE40D6-94DE-578C-866D-ECD95E494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defRPr/>
            </a:pPr>
            <a:endParaRPr lang="ro-RO" altLang="en-US" sz="2000" dirty="0"/>
          </a:p>
          <a:p>
            <a:pPr>
              <a:defRPr/>
            </a:pPr>
            <a:r>
              <a:rPr lang="ro-RO" altLang="en-US" sz="2000" dirty="0">
                <a:hlinkClick r:id="rId2"/>
              </a:rPr>
              <a:t>https://www.tensorflow.org/text/tutorials/word2vec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i="1" dirty="0">
                <a:hlinkClick r:id="rId3"/>
              </a:rPr>
              <a:t>https://radimrehurek.com/gensim/models/word2vec.html</a:t>
            </a:r>
            <a:endParaRPr lang="en-US" altLang="en-US" sz="2000" i="1" dirty="0"/>
          </a:p>
          <a:p>
            <a:pPr>
              <a:defRPr/>
            </a:pPr>
            <a:r>
              <a:rPr lang="en-US" altLang="en-US" sz="2000" i="1" dirty="0">
                <a:hlinkClick r:id="rId4"/>
              </a:rPr>
              <a:t>https://www.ruder.io/word-embeddings-1/</a:t>
            </a:r>
            <a:r>
              <a:rPr lang="en-US" altLang="en-US" sz="2000" i="1" dirty="0"/>
              <a:t> </a:t>
            </a:r>
          </a:p>
          <a:p>
            <a:pPr>
              <a:defRPr/>
            </a:pPr>
            <a:r>
              <a:rPr lang="en-US" altLang="en-US" sz="2000" i="1" dirty="0">
                <a:hlinkClick r:id="rId5"/>
              </a:rPr>
              <a:t>https://aylien.com/blog/a-review-of-the-recent-history-of-natural-language-processing?ref=ruder.io</a:t>
            </a:r>
            <a:r>
              <a:rPr lang="en-US" altLang="en-US" sz="2000" i="1" dirty="0"/>
              <a:t> </a:t>
            </a:r>
          </a:p>
          <a:p>
            <a:pPr>
              <a:defRPr/>
            </a:pPr>
            <a:r>
              <a:rPr lang="en-US" altLang="en-US" sz="2000" i="1" dirty="0">
                <a:hlinkClick r:id="rId6"/>
              </a:rPr>
              <a:t>https://nlp.stanford.edu/~manning/</a:t>
            </a:r>
            <a:r>
              <a:rPr lang="en-US" altLang="en-US" sz="2000" i="1" dirty="0"/>
              <a:t> - a lot of lectures about NLP</a:t>
            </a:r>
          </a:p>
        </p:txBody>
      </p:sp>
      <p:sp>
        <p:nvSpPr>
          <p:cNvPr id="8196" name="Slide Number Placeholder 4">
            <a:extLst>
              <a:ext uri="{FF2B5EF4-FFF2-40B4-BE49-F238E27FC236}">
                <a16:creationId xmlns:a16="http://schemas.microsoft.com/office/drawing/2014/main" id="{B6072303-E85F-842F-DA77-79B4063A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2514FB-E0BB-408A-A907-29B011F9B008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GB" altLang="en-US" sz="1000"/>
          </a:p>
        </p:txBody>
      </p:sp>
      <p:sp>
        <p:nvSpPr>
          <p:cNvPr id="8197" name="Footer Placeholder 5">
            <a:extLst>
              <a:ext uri="{FF2B5EF4-FFF2-40B4-BE49-F238E27FC236}">
                <a16:creationId xmlns:a16="http://schemas.microsoft.com/office/drawing/2014/main" id="{7BA4639C-C8BB-6450-D0B2-ADCD48F9F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vi-VN" altLang="en-US" sz="1000"/>
              <a:t>Inteligenţă artificială - generative AI</a:t>
            </a:r>
            <a:endParaRPr lang="en-GB" alt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87" y="352425"/>
            <a:ext cx="7467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reprezentari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vectoriale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intelesului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unui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cuvant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/text?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Permit </a:t>
            </a:r>
            <a:r>
              <a:rPr lang="en-US" dirty="0" err="1"/>
              <a:t>determinarea</a:t>
            </a:r>
            <a:r>
              <a:rPr lang="en-US" dirty="0"/>
              <a:t> </a:t>
            </a:r>
            <a:r>
              <a:rPr lang="en-US" dirty="0" err="1"/>
              <a:t>similaritatii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cuvinte</a:t>
            </a:r>
            <a:r>
              <a:rPr lang="en-US" dirty="0"/>
              <a:t>/</a:t>
            </a:r>
            <a:r>
              <a:rPr lang="en-US" dirty="0" err="1"/>
              <a:t>texte</a:t>
            </a:r>
            <a:endParaRPr lang="en-US" dirty="0"/>
          </a:p>
          <a:p>
            <a:pPr lvl="1">
              <a:buClr>
                <a:schemeClr val="tx1"/>
              </a:buClr>
              <a:buFont typeface="Wingdings" pitchFamily="2" charset="2"/>
              <a:buChar char="Ø"/>
            </a:pPr>
            <a:r>
              <a:rPr lang="en-US" b="1" i="1" dirty="0">
                <a:solidFill>
                  <a:srgbClr val="FF0000"/>
                </a:solidFill>
              </a:rPr>
              <a:t>fast</a:t>
            </a:r>
            <a:r>
              <a:rPr lang="en-US" dirty="0"/>
              <a:t> is similar to </a:t>
            </a:r>
            <a:r>
              <a:rPr lang="en-US" b="1" i="1" dirty="0">
                <a:solidFill>
                  <a:srgbClr val="FF0000"/>
                </a:solidFill>
              </a:rPr>
              <a:t>rapid</a:t>
            </a:r>
            <a:endParaRPr lang="en-US" i="1" dirty="0"/>
          </a:p>
          <a:p>
            <a:pPr lvl="1">
              <a:buClr>
                <a:schemeClr val="tx1"/>
              </a:buClr>
              <a:buFont typeface="Wingdings" pitchFamily="2" charset="2"/>
              <a:buChar char="Ø"/>
            </a:pPr>
            <a:r>
              <a:rPr lang="en-US" b="1" i="1" dirty="0">
                <a:solidFill>
                  <a:srgbClr val="FF0000"/>
                </a:solidFill>
              </a:rPr>
              <a:t>tall</a:t>
            </a:r>
            <a:r>
              <a:rPr lang="en-US" dirty="0"/>
              <a:t> is similar to </a:t>
            </a:r>
            <a:r>
              <a:rPr lang="en-US" b="1" i="1" dirty="0">
                <a:solidFill>
                  <a:srgbClr val="FF0000"/>
                </a:solidFill>
              </a:rPr>
              <a:t>height</a:t>
            </a:r>
            <a:endParaRPr lang="en-US" i="1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EF864-7CB2-38EA-78CB-C99F9CE82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CCDA1-61EB-E0E9-6781-D64596B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</a:t>
            </a:fld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A11915-1F75-8DD5-0820-87E0C5097F16}"/>
              </a:ext>
            </a:extLst>
          </p:cNvPr>
          <p:cNvSpPr txBox="1"/>
          <p:nvPr/>
        </p:nvSpPr>
        <p:spPr>
          <a:xfrm>
            <a:off x="1547664" y="3429000"/>
            <a:ext cx="72724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Question answering: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i="1" dirty="0"/>
              <a:t>Q: “How </a:t>
            </a:r>
            <a:r>
              <a:rPr lang="en-US" b="1" i="1" dirty="0">
                <a:solidFill>
                  <a:srgbClr val="FF0000"/>
                </a:solidFill>
              </a:rPr>
              <a:t>tall</a:t>
            </a:r>
            <a:r>
              <a:rPr lang="en-US" i="1" dirty="0">
                <a:solidFill>
                  <a:srgbClr val="0000FF"/>
                </a:solidFill>
              </a:rPr>
              <a:t> </a:t>
            </a:r>
            <a:r>
              <a:rPr lang="en-US" i="1" dirty="0"/>
              <a:t>is Mt. Everest?”</a:t>
            </a:r>
            <a:br>
              <a:rPr lang="en-US" i="1" dirty="0"/>
            </a:br>
            <a:r>
              <a:rPr lang="en-US" i="1" dirty="0"/>
              <a:t>Candidate A: “The official </a:t>
            </a:r>
            <a:r>
              <a:rPr lang="en-US" b="1" i="1" dirty="0">
                <a:solidFill>
                  <a:srgbClr val="FF0000"/>
                </a:solidFill>
              </a:rPr>
              <a:t>height</a:t>
            </a:r>
            <a:r>
              <a:rPr lang="en-US" i="1" dirty="0">
                <a:solidFill>
                  <a:srgbClr val="0000FF"/>
                </a:solidFill>
              </a:rPr>
              <a:t> </a:t>
            </a:r>
            <a:r>
              <a:rPr lang="en-US" i="1" dirty="0"/>
              <a:t>of Mount Everest is 29029 feet”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436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42900" y="247650"/>
            <a:ext cx="8458200" cy="74295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Intuitia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spatele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similaritatii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379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342900" y="1388912"/>
            <a:ext cx="8610600" cy="5280448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 err="1"/>
              <a:t>Exemplu</a:t>
            </a:r>
            <a:r>
              <a:rPr lang="en-US" dirty="0"/>
              <a:t>: Ce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Sirrus</a:t>
            </a:r>
            <a:r>
              <a:rPr lang="en-US" dirty="0"/>
              <a:t> X 3.0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0" indent="0">
              <a:buClr>
                <a:schemeClr val="tx1"/>
              </a:buClr>
              <a:buNone/>
            </a:pPr>
            <a:endParaRPr lang="en-US" sz="800" dirty="0"/>
          </a:p>
          <a:p>
            <a:pPr marL="0" indent="0">
              <a:buClr>
                <a:schemeClr val="tx1"/>
              </a:buClr>
              <a:buNone/>
            </a:pPr>
            <a:endParaRPr lang="en-US" sz="800" dirty="0">
              <a:latin typeface="Calibri (Body)"/>
              <a:cs typeface="Calibri (Body)"/>
            </a:endParaRPr>
          </a:p>
          <a:p>
            <a:pPr marL="0" indent="0">
              <a:buClr>
                <a:schemeClr val="tx1"/>
              </a:buClr>
              <a:buNone/>
            </a:pPr>
            <a:endParaRPr lang="en-US" sz="800" dirty="0">
              <a:latin typeface="Calibri (Body)"/>
              <a:cs typeface="Calibri (Body)"/>
            </a:endParaRPr>
          </a:p>
          <a:p>
            <a:pPr marL="0" indent="0">
              <a:buClr>
                <a:schemeClr val="tx1"/>
              </a:buClr>
              <a:buNone/>
            </a:pPr>
            <a:endParaRPr lang="en-US" sz="800" dirty="0">
              <a:latin typeface="Calibri (Body)"/>
              <a:cs typeface="Calibri (Body)"/>
            </a:endParaRPr>
          </a:p>
          <a:p>
            <a:pPr marL="0" indent="0">
              <a:buClr>
                <a:schemeClr val="tx1"/>
              </a:buClr>
              <a:buNone/>
            </a:pPr>
            <a:endParaRPr lang="en-US" sz="800" dirty="0">
              <a:latin typeface="Calibri (Body)"/>
              <a:cs typeface="Calibri (Body)"/>
            </a:endParaRPr>
          </a:p>
          <a:p>
            <a:pPr marL="0" indent="0">
              <a:buClr>
                <a:schemeClr val="tx1"/>
              </a:buClr>
              <a:buNone/>
            </a:pPr>
            <a:endParaRPr lang="en-US" sz="800" dirty="0">
              <a:latin typeface="Calibri (Body)"/>
              <a:cs typeface="Calibri (Body)"/>
            </a:endParaRPr>
          </a:p>
          <a:p>
            <a:pPr marL="0" indent="0">
              <a:buClr>
                <a:schemeClr val="tx1"/>
              </a:buClr>
              <a:buNone/>
            </a:pPr>
            <a:endParaRPr lang="en-US" sz="800" dirty="0">
              <a:latin typeface="Calibri (Body)"/>
              <a:cs typeface="Calibri (Body)"/>
            </a:endParaRPr>
          </a:p>
          <a:p>
            <a:pPr marL="0" indent="0">
              <a:buClr>
                <a:schemeClr val="tx1"/>
              </a:buClr>
              <a:buNone/>
            </a:pPr>
            <a:endParaRPr lang="en-US" sz="800" dirty="0">
              <a:latin typeface="Calibri (Body)"/>
              <a:cs typeface="Calibri (Body)"/>
            </a:endParaRPr>
          </a:p>
          <a:p>
            <a:pPr marL="0" indent="0">
              <a:buClr>
                <a:schemeClr val="tx1"/>
              </a:buClr>
              <a:buNone/>
            </a:pPr>
            <a:endParaRPr lang="en-US" sz="800" dirty="0">
              <a:latin typeface="Calibri (Body)"/>
              <a:cs typeface="Calibri (Body)"/>
            </a:endParaRPr>
          </a:p>
          <a:p>
            <a:pPr marL="0" indent="0">
              <a:buClr>
                <a:schemeClr val="tx1"/>
              </a:buClr>
              <a:buNone/>
            </a:pPr>
            <a:endParaRPr lang="en-US" sz="800" dirty="0">
              <a:latin typeface="Calibri (Body)"/>
              <a:cs typeface="Calibri (Body)"/>
            </a:endParaRPr>
          </a:p>
          <a:p>
            <a:pPr marL="0" indent="0">
              <a:buClr>
                <a:schemeClr val="tx1"/>
              </a:buClr>
              <a:buNone/>
            </a:pPr>
            <a:endParaRPr lang="en-US" sz="800" dirty="0">
              <a:latin typeface="Calibri (Body)"/>
              <a:cs typeface="Calibri (Body)"/>
            </a:endParaRPr>
          </a:p>
          <a:p>
            <a:pPr>
              <a:buClr>
                <a:schemeClr val="tx1"/>
              </a:buClr>
            </a:pPr>
            <a:r>
              <a:rPr lang="en-US" dirty="0">
                <a:latin typeface="Calibri (Body)"/>
                <a:cs typeface="Calibri (Body)"/>
              </a:rPr>
              <a:t>Din context, o </a:t>
            </a:r>
            <a:r>
              <a:rPr lang="en-US" dirty="0" err="1">
                <a:latin typeface="Calibri (Body)"/>
                <a:cs typeface="Calibri (Body)"/>
              </a:rPr>
              <a:t>persoana</a:t>
            </a:r>
            <a:r>
              <a:rPr lang="en-US" dirty="0">
                <a:latin typeface="Calibri (Body)"/>
                <a:cs typeface="Calibri (Body)"/>
              </a:rPr>
              <a:t> </a:t>
            </a:r>
            <a:r>
              <a:rPr lang="en-US" dirty="0" err="1">
                <a:latin typeface="Calibri (Body)"/>
                <a:cs typeface="Calibri (Body)"/>
              </a:rPr>
              <a:t>poate</a:t>
            </a:r>
            <a:r>
              <a:rPr lang="en-US" dirty="0">
                <a:latin typeface="Calibri (Body)"/>
                <a:cs typeface="Calibri (Body)"/>
              </a:rPr>
              <a:t> </a:t>
            </a:r>
            <a:r>
              <a:rPr lang="en-US" dirty="0" err="1">
                <a:latin typeface="Calibri (Body)"/>
                <a:cs typeface="Calibri (Body)"/>
              </a:rPr>
              <a:t>ghici</a:t>
            </a:r>
            <a:r>
              <a:rPr lang="en-US" dirty="0">
                <a:latin typeface="Calibri (Body)"/>
                <a:cs typeface="Calibri (Body)"/>
              </a:rPr>
              <a:t> ca </a:t>
            </a:r>
            <a:r>
              <a:rPr lang="en-US" dirty="0" err="1">
                <a:latin typeface="Calibri (Body)"/>
                <a:cs typeface="Calibri (Body)"/>
              </a:rPr>
              <a:t>Sirrus</a:t>
            </a:r>
            <a:r>
              <a:rPr lang="en-US" dirty="0">
                <a:latin typeface="Calibri (Body)"/>
                <a:cs typeface="Calibri (Body)"/>
              </a:rPr>
              <a:t> X 3.0 </a:t>
            </a:r>
            <a:r>
              <a:rPr lang="en-US" dirty="0" err="1">
                <a:latin typeface="Calibri (Body)"/>
                <a:cs typeface="Calibri (Body)"/>
              </a:rPr>
              <a:t>este</a:t>
            </a:r>
            <a:r>
              <a:rPr lang="en-US" dirty="0">
                <a:latin typeface="Calibri (Body)"/>
                <a:cs typeface="Calibri (Body)"/>
              </a:rPr>
              <a:t> un model de </a:t>
            </a:r>
            <a:r>
              <a:rPr lang="en-US" dirty="0" err="1">
                <a:latin typeface="Calibri (Body)"/>
                <a:cs typeface="Calibri (Body)"/>
              </a:rPr>
              <a:t>bicicleta</a:t>
            </a:r>
            <a:endParaRPr lang="en-US" dirty="0">
              <a:latin typeface="Calibri (Body)"/>
              <a:cs typeface="Calibri (Body)"/>
            </a:endParaRP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 err="1"/>
              <a:t>Pentru</a:t>
            </a:r>
            <a:r>
              <a:rPr lang="en-US" dirty="0"/>
              <a:t> un </a:t>
            </a:r>
            <a:r>
              <a:rPr lang="en-US" dirty="0" err="1"/>
              <a:t>algoritm</a:t>
            </a:r>
            <a:r>
              <a:rPr lang="en-US" dirty="0"/>
              <a:t>, </a:t>
            </a:r>
            <a:r>
              <a:rPr lang="en-US" dirty="0" err="1"/>
              <a:t>intuitia</a:t>
            </a:r>
            <a:r>
              <a:rPr lang="en-US" dirty="0"/>
              <a:t> e ca </a:t>
            </a:r>
            <a:r>
              <a:rPr lang="en-US" b="1" dirty="0" err="1">
                <a:solidFill>
                  <a:srgbClr val="009900"/>
                </a:solidFill>
              </a:rPr>
              <a:t>doua</a:t>
            </a:r>
            <a:r>
              <a:rPr lang="en-US" b="1" dirty="0">
                <a:solidFill>
                  <a:srgbClr val="009900"/>
                </a:solidFill>
              </a:rPr>
              <a:t> </a:t>
            </a:r>
            <a:r>
              <a:rPr lang="en-US" b="1" dirty="0" err="1">
                <a:solidFill>
                  <a:srgbClr val="009900"/>
                </a:solidFill>
              </a:rPr>
              <a:t>cuvinte</a:t>
            </a:r>
            <a:r>
              <a:rPr lang="en-US" b="1" dirty="0">
                <a:solidFill>
                  <a:srgbClr val="009900"/>
                </a:solidFill>
              </a:rPr>
              <a:t> sunt similar </a:t>
            </a:r>
            <a:r>
              <a:rPr lang="en-US" b="1" dirty="0" err="1">
                <a:solidFill>
                  <a:srgbClr val="009900"/>
                </a:solidFill>
              </a:rPr>
              <a:t>daca</a:t>
            </a:r>
            <a:r>
              <a:rPr lang="en-US" b="1" dirty="0">
                <a:solidFill>
                  <a:srgbClr val="009900"/>
                </a:solidFill>
              </a:rPr>
              <a:t> </a:t>
            </a:r>
            <a:r>
              <a:rPr lang="en-US" b="1" dirty="0" err="1">
                <a:solidFill>
                  <a:srgbClr val="009900"/>
                </a:solidFill>
              </a:rPr>
              <a:t>ele</a:t>
            </a:r>
            <a:r>
              <a:rPr lang="en-US" b="1" dirty="0">
                <a:solidFill>
                  <a:srgbClr val="009900"/>
                </a:solidFill>
              </a:rPr>
              <a:t> sunt </a:t>
            </a:r>
            <a:r>
              <a:rPr lang="en-US" b="1" dirty="0" err="1">
                <a:solidFill>
                  <a:srgbClr val="009900"/>
                </a:solidFill>
              </a:rPr>
              <a:t>folosite</a:t>
            </a:r>
            <a:r>
              <a:rPr lang="en-US" b="1" dirty="0">
                <a:solidFill>
                  <a:srgbClr val="009900"/>
                </a:solidFill>
              </a:rPr>
              <a:t> in context </a:t>
            </a:r>
            <a:r>
              <a:rPr lang="en-US" b="1" dirty="0" err="1">
                <a:solidFill>
                  <a:srgbClr val="009900"/>
                </a:solidFill>
              </a:rPr>
              <a:t>similare</a:t>
            </a:r>
            <a:endParaRPr lang="en-US" b="1" dirty="0">
              <a:solidFill>
                <a:srgbClr val="0099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26884-5EF1-B7CC-4776-9B39BD77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0B561-0761-9F63-3A0C-FEC18D73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C3CDFD-6968-0897-BEEA-7180C2582A90}"/>
              </a:ext>
            </a:extLst>
          </p:cNvPr>
          <p:cNvSpPr txBox="1"/>
          <p:nvPr/>
        </p:nvSpPr>
        <p:spPr>
          <a:xfrm>
            <a:off x="615752" y="1988840"/>
            <a:ext cx="8064896" cy="923330"/>
          </a:xfrm>
          <a:prstGeom prst="rect">
            <a:avLst/>
          </a:prstGeom>
          <a:solidFill>
            <a:srgbClr val="009900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b="0" i="1" dirty="0">
                <a:solidFill>
                  <a:schemeClr val="bg1"/>
                </a:solidFill>
                <a:effectLst/>
                <a:highlight>
                  <a:srgbClr val="009900"/>
                </a:highlight>
                <a:latin typeface="-apple-system"/>
              </a:rPr>
              <a:t>The </a:t>
            </a:r>
            <a:r>
              <a:rPr lang="en-US" b="1" i="1" dirty="0" err="1">
                <a:solidFill>
                  <a:schemeClr val="bg1"/>
                </a:solidFill>
                <a:effectLst/>
                <a:highlight>
                  <a:srgbClr val="009900"/>
                </a:highlight>
                <a:latin typeface="-apple-system"/>
              </a:rPr>
              <a:t>Sirrus</a:t>
            </a:r>
            <a:r>
              <a:rPr lang="en-US" b="1" i="1" dirty="0">
                <a:solidFill>
                  <a:schemeClr val="bg1"/>
                </a:solidFill>
                <a:effectLst/>
                <a:highlight>
                  <a:srgbClr val="009900"/>
                </a:highlight>
                <a:latin typeface="-apple-system"/>
              </a:rPr>
              <a:t> X 3.0</a:t>
            </a:r>
            <a:r>
              <a:rPr lang="en-US" b="0" i="1" dirty="0">
                <a:solidFill>
                  <a:schemeClr val="bg1"/>
                </a:solidFill>
                <a:effectLst/>
                <a:highlight>
                  <a:srgbClr val="009900"/>
                </a:highlight>
                <a:latin typeface="-apple-system"/>
              </a:rPr>
              <a:t> invites you to explore beyond boundaries. With confidence-inspiring tires, an upright riding position, and intuitive components, </a:t>
            </a:r>
            <a:r>
              <a:rPr lang="en-US" b="1" i="1" dirty="0" err="1">
                <a:solidFill>
                  <a:schemeClr val="bg1"/>
                </a:solidFill>
                <a:effectLst/>
                <a:highlight>
                  <a:srgbClr val="009900"/>
                </a:highlight>
                <a:latin typeface="-apple-system"/>
              </a:rPr>
              <a:t>Sirrus</a:t>
            </a:r>
            <a:r>
              <a:rPr lang="en-US" b="1" i="1" dirty="0">
                <a:solidFill>
                  <a:schemeClr val="bg1"/>
                </a:solidFill>
                <a:effectLst/>
                <a:highlight>
                  <a:srgbClr val="009900"/>
                </a:highlight>
                <a:latin typeface="-apple-system"/>
              </a:rPr>
              <a:t> X 3.0</a:t>
            </a:r>
            <a:r>
              <a:rPr lang="en-US" b="0" i="1" dirty="0">
                <a:solidFill>
                  <a:schemeClr val="bg1"/>
                </a:solidFill>
                <a:effectLst/>
                <a:highlight>
                  <a:srgbClr val="009900"/>
                </a:highlight>
                <a:latin typeface="-apple-system"/>
              </a:rPr>
              <a:t> is your ticket to adventure.</a:t>
            </a:r>
            <a:endParaRPr lang="en-US" i="1" dirty="0">
              <a:solidFill>
                <a:schemeClr val="bg1"/>
              </a:solidFill>
              <a:highlight>
                <a:srgbClr val="0099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6505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65113"/>
            <a:ext cx="7776864" cy="74295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Diferite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reprezentari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vectoriale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 err="1"/>
              <a:t>Reprezentari</a:t>
            </a:r>
            <a:r>
              <a:rPr lang="en-US" dirty="0"/>
              <a:t> rare (</a:t>
            </a:r>
            <a:r>
              <a:rPr lang="en-US" i="1" dirty="0"/>
              <a:t>sparse</a:t>
            </a:r>
            <a:r>
              <a:rPr lang="en-US" dirty="0"/>
              <a:t>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Mutual-information weighted word co-occurrence matrices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 err="1"/>
              <a:t>Reprezentari</a:t>
            </a:r>
            <a:r>
              <a:rPr lang="en-US" dirty="0"/>
              <a:t> dense (</a:t>
            </a:r>
            <a:r>
              <a:rPr lang="en-US" dirty="0" err="1"/>
              <a:t>compacte</a:t>
            </a:r>
            <a:r>
              <a:rPr lang="en-US" dirty="0"/>
              <a:t>) :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-US" dirty="0"/>
              <a:t>Singular Value Decomposition (</a:t>
            </a:r>
            <a:r>
              <a:rPr lang="en-US" dirty="0" err="1"/>
              <a:t>si</a:t>
            </a:r>
            <a:r>
              <a:rPr lang="en-US" dirty="0"/>
              <a:t> Latent Semantic Analysis)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-US" dirty="0"/>
              <a:t>Neural-network-inspired models (skip-grams, CBOW)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-US" dirty="0" err="1"/>
              <a:t>Altele</a:t>
            </a:r>
            <a:r>
              <a:rPr lang="en-US" dirty="0"/>
              <a:t> (e.g. brown clusters)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15765-2E3C-66B6-B637-AC2BF02BD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CAD4D-4796-7A71-CB76-0A8C4A223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99038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47184"/>
            <a:ext cx="7467600" cy="742950"/>
          </a:xfrm>
        </p:spPr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Vectori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densi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40768"/>
            <a:ext cx="8534400" cy="5112568"/>
          </a:xfrm>
        </p:spPr>
        <p:txBody>
          <a:bodyPr>
            <a:normAutofit fontScale="85000" lnSpcReduction="10000"/>
          </a:bodyPr>
          <a:lstStyle/>
          <a:p>
            <a:pPr>
              <a:buClr>
                <a:schemeClr val="tx1"/>
              </a:buClr>
            </a:pPr>
            <a:r>
              <a:rPr lang="en-US" dirty="0" err="1"/>
              <a:t>Vectorii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matricea</a:t>
            </a:r>
            <a:r>
              <a:rPr lang="en-US" dirty="0">
                <a:sym typeface="Wingdings" panose="05000000000000000000" pitchFamily="2" charset="2"/>
              </a:rPr>
              <a:t> de co-</a:t>
            </a:r>
            <a:r>
              <a:rPr lang="en-US" dirty="0" err="1">
                <a:sym typeface="Wingdings" panose="05000000000000000000" pitchFamily="2" charset="2"/>
              </a:rPr>
              <a:t>ocurenta</a:t>
            </a:r>
            <a:r>
              <a:rPr lang="en-US" dirty="0">
                <a:sym typeface="Wingdings" panose="05000000000000000000" pitchFamily="2" charset="2"/>
              </a:rPr>
              <a:t> a </a:t>
            </a:r>
            <a:r>
              <a:rPr lang="en-US" dirty="0" err="1">
                <a:sym typeface="Wingdings" panose="05000000000000000000" pitchFamily="2" charset="2"/>
              </a:rPr>
              <a:t>termenilor</a:t>
            </a:r>
            <a:r>
              <a:rPr lang="en-US" dirty="0"/>
              <a:t> 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/>
              <a:t>lungi</a:t>
            </a:r>
            <a:r>
              <a:rPr lang="en-US" dirty="0"/>
              <a:t> (length |V|= 20,000 -&gt; 50,000)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 err="1"/>
              <a:t>rari</a:t>
            </a:r>
            <a:r>
              <a:rPr lang="en-US" b="1" dirty="0"/>
              <a:t> </a:t>
            </a:r>
            <a:r>
              <a:rPr lang="en-US" dirty="0"/>
              <a:t>(f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sunt 0)</a:t>
            </a:r>
          </a:p>
          <a:p>
            <a:pPr>
              <a:buClr>
                <a:schemeClr val="tx1"/>
              </a:buClr>
            </a:pPr>
            <a:r>
              <a:rPr lang="en-US" dirty="0"/>
              <a:t>Alternativa: </a:t>
            </a:r>
            <a:r>
              <a:rPr lang="en-US" dirty="0" err="1"/>
              <a:t>vectori</a:t>
            </a:r>
            <a:r>
              <a:rPr lang="en-US" dirty="0"/>
              <a:t> </a:t>
            </a:r>
            <a:r>
              <a:rPr lang="en-US" dirty="0" err="1"/>
              <a:t>invatati</a:t>
            </a:r>
            <a:r>
              <a:rPr lang="en-US" dirty="0"/>
              <a:t> (</a:t>
            </a:r>
            <a:r>
              <a:rPr lang="en-US" dirty="0" err="1"/>
              <a:t>prin</a:t>
            </a:r>
            <a:r>
              <a:rPr lang="en-US" dirty="0"/>
              <a:t> AI/ML)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/>
              <a:t>scurti</a:t>
            </a:r>
            <a:r>
              <a:rPr lang="en-US" dirty="0"/>
              <a:t> (length 200-1000)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 err="1"/>
              <a:t>densi</a:t>
            </a:r>
            <a:r>
              <a:rPr lang="en-US" dirty="0"/>
              <a:t> (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nu sunt 0)</a:t>
            </a:r>
          </a:p>
          <a:p>
            <a:pPr>
              <a:buClr>
                <a:schemeClr val="tx1"/>
              </a:buClr>
            </a:pPr>
            <a:r>
              <a:rPr lang="en-US" dirty="0"/>
              <a:t>De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vectori</a:t>
            </a:r>
            <a:r>
              <a:rPr lang="en-US" dirty="0"/>
              <a:t> </a:t>
            </a:r>
            <a:r>
              <a:rPr lang="en-US" dirty="0" err="1"/>
              <a:t>densi</a:t>
            </a:r>
            <a:r>
              <a:rPr lang="en-US" dirty="0"/>
              <a:t>?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/>
              <a:t>Vectorii</a:t>
            </a:r>
            <a:r>
              <a:rPr lang="en-US" dirty="0"/>
              <a:t> </a:t>
            </a:r>
            <a:r>
              <a:rPr lang="en-US" dirty="0" err="1"/>
              <a:t>scurti</a:t>
            </a:r>
            <a:r>
              <a:rPr lang="en-US" dirty="0"/>
              <a:t> -&gt; </a:t>
            </a:r>
            <a:r>
              <a:rPr lang="en-US" dirty="0" err="1"/>
              <a:t>folositi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usor</a:t>
            </a:r>
            <a:r>
              <a:rPr lang="en-US" dirty="0"/>
              <a:t> ca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i="1" dirty="0"/>
              <a:t>features</a:t>
            </a:r>
            <a:r>
              <a:rPr lang="en-US" dirty="0"/>
              <a:t> in </a:t>
            </a:r>
            <a:r>
              <a:rPr lang="en-US" dirty="0" err="1"/>
              <a:t>algoritmii</a:t>
            </a:r>
            <a:r>
              <a:rPr lang="en-US" dirty="0"/>
              <a:t> de </a:t>
            </a:r>
            <a:r>
              <a:rPr lang="en-US" dirty="0" err="1"/>
              <a:t>invatare</a:t>
            </a:r>
            <a:r>
              <a:rPr lang="en-US" dirty="0"/>
              <a:t> (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putini</a:t>
            </a:r>
            <a:r>
              <a:rPr lang="en-US" dirty="0"/>
              <a:t> </a:t>
            </a:r>
            <a:r>
              <a:rPr lang="en-US" dirty="0" err="1"/>
              <a:t>coeficienti</a:t>
            </a:r>
            <a:r>
              <a:rPr lang="en-US" dirty="0"/>
              <a:t> de </a:t>
            </a:r>
            <a:r>
              <a:rPr lang="en-US" dirty="0" err="1"/>
              <a:t>invatat</a:t>
            </a:r>
            <a:r>
              <a:rPr lang="en-US" dirty="0"/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/>
              <a:t>Vectorii</a:t>
            </a:r>
            <a:r>
              <a:rPr lang="en-US" dirty="0"/>
              <a:t> </a:t>
            </a:r>
            <a:r>
              <a:rPr lang="en-US" dirty="0" err="1"/>
              <a:t>densi</a:t>
            </a:r>
            <a:r>
              <a:rPr lang="en-US" dirty="0"/>
              <a:t> pot </a:t>
            </a:r>
            <a:r>
              <a:rPr lang="en-US" dirty="0" err="1"/>
              <a:t>generaliza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bine, </a:t>
            </a:r>
            <a:r>
              <a:rPr lang="en-US" dirty="0" err="1"/>
              <a:t>captand</a:t>
            </a:r>
            <a:r>
              <a:rPr lang="en-US" dirty="0"/>
              <a:t> </a:t>
            </a:r>
            <a:r>
              <a:rPr lang="en-US" dirty="0" err="1"/>
              <a:t>sinonimia</a:t>
            </a:r>
            <a:r>
              <a:rPr lang="en-US" dirty="0"/>
              <a:t> </a:t>
            </a:r>
            <a:r>
              <a:rPr lang="en-US" dirty="0" err="1"/>
              <a:t>termenilor</a:t>
            </a:r>
            <a:endParaRPr lang="en-US" dirty="0"/>
          </a:p>
          <a:p>
            <a:pPr lvl="2">
              <a:buFont typeface="Wingdings" pitchFamily="2" charset="2"/>
              <a:buChar char="Ø"/>
            </a:pPr>
            <a:r>
              <a:rPr lang="en-US" dirty="0"/>
              <a:t>Bike – scooter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Car – automobile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House – apartment </a:t>
            </a:r>
          </a:p>
          <a:p>
            <a:pPr lvl="1"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C00DA-7BB3-FE0B-C611-911F3319A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360F6-B714-1D80-F99C-35156393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6874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520" y="30074"/>
            <a:ext cx="8525933" cy="1008647"/>
          </a:xfrm>
        </p:spPr>
        <p:txBody>
          <a:bodyPr/>
          <a:lstStyle/>
          <a:p>
            <a:pPr algn="ctr"/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Modele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predictie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invatare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reprezentarilor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67" y="1340768"/>
            <a:ext cx="8534400" cy="4298032"/>
          </a:xfrm>
        </p:spPr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en-US" dirty="0" err="1"/>
              <a:t>Evolutie</a:t>
            </a:r>
            <a:endParaRPr lang="en-US" dirty="0"/>
          </a:p>
          <a:p>
            <a:pPr lvl="1">
              <a:defRPr/>
            </a:pPr>
            <a:r>
              <a:rPr lang="en-US" dirty="0"/>
              <a:t>Word-level</a:t>
            </a:r>
          </a:p>
          <a:p>
            <a:pPr lvl="2">
              <a:defRPr/>
            </a:pPr>
            <a:r>
              <a:rPr lang="en-US" dirty="0"/>
              <a:t>2003 - N-gram Neural language model (Montreal - Bengio)</a:t>
            </a:r>
          </a:p>
          <a:p>
            <a:pPr lvl="3">
              <a:defRPr/>
            </a:pPr>
            <a:r>
              <a:rPr lang="en-US" dirty="0">
                <a:hlinkClick r:id="rId2"/>
              </a:rPr>
              <a:t>https://www.jmlr.org/papers/volume3/bengio03a/bengio03a.pdf</a:t>
            </a:r>
            <a:r>
              <a:rPr lang="en-US" dirty="0"/>
              <a:t> </a:t>
            </a:r>
          </a:p>
          <a:p>
            <a:pPr lvl="3">
              <a:defRPr/>
            </a:pPr>
            <a:r>
              <a:rPr lang="en-US" dirty="0"/>
              <a:t>Probability of the target word based on previous k words </a:t>
            </a:r>
          </a:p>
          <a:p>
            <a:pPr lvl="3">
              <a:defRPr/>
            </a:pPr>
            <a:r>
              <a:rPr lang="en-US" dirty="0"/>
              <a:t>Estimation of the probability by an ANN -&gt; prediction of the next word in a sequence </a:t>
            </a:r>
          </a:p>
          <a:p>
            <a:pPr lvl="2">
              <a:defRPr/>
            </a:pPr>
            <a:r>
              <a:rPr lang="en-US" dirty="0"/>
              <a:t>2008 – multi-task model (Princeton – </a:t>
            </a:r>
            <a:r>
              <a:rPr lang="en-US" dirty="0" err="1"/>
              <a:t>Collobert</a:t>
            </a:r>
            <a:r>
              <a:rPr lang="en-US" dirty="0"/>
              <a:t>) </a:t>
            </a:r>
          </a:p>
          <a:p>
            <a:pPr lvl="3">
              <a:defRPr/>
            </a:pPr>
            <a:r>
              <a:rPr lang="en-US" dirty="0">
                <a:hlinkClick r:id="rId3"/>
              </a:rPr>
              <a:t>https://ronan.collobert.com/pub/matos/2008_nlp_icml.pdf</a:t>
            </a:r>
            <a:r>
              <a:rPr lang="en-US" dirty="0"/>
              <a:t> </a:t>
            </a:r>
          </a:p>
          <a:p>
            <a:pPr lvl="3">
              <a:defRPr/>
            </a:pPr>
            <a:r>
              <a:rPr lang="en-US" dirty="0"/>
              <a:t>Probability of MORE target words (a sequence of words)</a:t>
            </a:r>
          </a:p>
          <a:p>
            <a:pPr lvl="3">
              <a:defRPr/>
            </a:pPr>
            <a:r>
              <a:rPr lang="en-US" dirty="0"/>
              <a:t>Estimation of the probability by an ANN –similar to Bengio’s model,</a:t>
            </a:r>
            <a:endParaRPr lang="en-US" b="1" dirty="0"/>
          </a:p>
          <a:p>
            <a:pPr lvl="2">
              <a:defRPr/>
            </a:pPr>
            <a:r>
              <a:rPr lang="en-US" dirty="0"/>
              <a:t>2013 – word2vec (Google – </a:t>
            </a:r>
            <a:r>
              <a:rPr lang="en-US" dirty="0" err="1"/>
              <a:t>Mikolov</a:t>
            </a:r>
            <a:r>
              <a:rPr lang="en-US" dirty="0"/>
              <a:t>)</a:t>
            </a:r>
          </a:p>
          <a:p>
            <a:pPr lvl="3">
              <a:defRPr/>
            </a:pPr>
            <a:r>
              <a:rPr lang="en-US" dirty="0">
                <a:hlinkClick r:id="rId4"/>
              </a:rPr>
              <a:t>https://papers.nips.cc/paper/2013/file/9aa42b31882ec039965f3c4923ce901b-Paper.pdf</a:t>
            </a:r>
            <a:endParaRPr lang="en-US" dirty="0"/>
          </a:p>
          <a:p>
            <a:pPr lvl="3">
              <a:defRPr/>
            </a:pPr>
            <a:r>
              <a:rPr lang="en-US" dirty="0" err="1"/>
              <a:t>Continous</a:t>
            </a:r>
            <a:r>
              <a:rPr lang="en-US" dirty="0"/>
              <a:t> BOW model -&gt; try to predict a word based on its context (</a:t>
            </a:r>
            <a:r>
              <a:rPr lang="en-US" dirty="0" err="1"/>
              <a:t>neighbours</a:t>
            </a:r>
            <a:r>
              <a:rPr lang="en-US" dirty="0"/>
              <a:t>); input = </a:t>
            </a:r>
            <a:r>
              <a:rPr lang="en-US" dirty="0" err="1"/>
              <a:t>neighbour</a:t>
            </a:r>
            <a:r>
              <a:rPr lang="en-US" dirty="0"/>
              <a:t> words, output = target word</a:t>
            </a:r>
          </a:p>
          <a:p>
            <a:pPr lvl="3">
              <a:defRPr/>
            </a:pPr>
            <a:r>
              <a:rPr lang="en-US" dirty="0"/>
              <a:t>Skip-gram model -&gt; try to predict context (</a:t>
            </a:r>
            <a:r>
              <a:rPr lang="en-US" dirty="0" err="1"/>
              <a:t>neighbours</a:t>
            </a:r>
            <a:r>
              <a:rPr lang="en-US" dirty="0"/>
              <a:t>) of a word; input = target word; output  = </a:t>
            </a:r>
            <a:r>
              <a:rPr lang="en-US" dirty="0" err="1"/>
              <a:t>neighbour</a:t>
            </a:r>
            <a:r>
              <a:rPr lang="en-US" dirty="0"/>
              <a:t> words;</a:t>
            </a:r>
          </a:p>
          <a:p>
            <a:pPr lvl="3">
              <a:defRPr/>
            </a:pPr>
            <a:r>
              <a:rPr lang="en-US" dirty="0" err="1"/>
              <a:t>Visualisation</a:t>
            </a:r>
            <a:r>
              <a:rPr lang="en-US" dirty="0"/>
              <a:t> of embeddings </a:t>
            </a:r>
            <a:r>
              <a:rPr lang="en-US" dirty="0">
                <a:hlinkClick r:id="rId5"/>
              </a:rPr>
              <a:t>https://ronxin.github.io/wevi/</a:t>
            </a:r>
            <a:endParaRPr lang="en-US" dirty="0"/>
          </a:p>
          <a:p>
            <a:pPr lvl="3">
              <a:defRPr/>
            </a:pPr>
            <a:r>
              <a:rPr lang="en-US" dirty="0"/>
              <a:t>Trained vectors </a:t>
            </a:r>
            <a:r>
              <a:rPr lang="en-US" dirty="0">
                <a:hlinkClick r:id="rId6"/>
              </a:rPr>
              <a:t>https://radimrehurek.com/gensim/models/word2vec.html</a:t>
            </a:r>
            <a:r>
              <a:rPr lang="en-US" dirty="0"/>
              <a:t> or </a:t>
            </a:r>
            <a:r>
              <a:rPr lang="en-US" dirty="0">
                <a:hlinkClick r:id="rId7"/>
              </a:rPr>
              <a:t>https://github.com/3Top/word2vec-api#where-to-get-a-pretrained-models</a:t>
            </a:r>
            <a:r>
              <a:rPr lang="en-US" dirty="0"/>
              <a:t> </a:t>
            </a:r>
            <a:endParaRPr lang="en-US" b="1" dirty="0"/>
          </a:p>
          <a:p>
            <a:pPr lvl="1">
              <a:defRPr/>
            </a:pPr>
            <a:r>
              <a:rPr lang="en-US" dirty="0"/>
              <a:t>Sentence (document) level (2014 - … )</a:t>
            </a:r>
          </a:p>
          <a:p>
            <a:pPr lvl="2">
              <a:defRPr/>
            </a:pPr>
            <a:r>
              <a:rPr lang="en-US" dirty="0"/>
              <a:t>2014 - Paragraph embedding </a:t>
            </a:r>
            <a:r>
              <a:rPr lang="en-US" dirty="0">
                <a:hlinkClick r:id="rId8"/>
              </a:rPr>
              <a:t>https://arxiv.org/abs/1405.4053</a:t>
            </a:r>
            <a:endParaRPr lang="en-US" dirty="0"/>
          </a:p>
          <a:p>
            <a:pPr lvl="1">
              <a:defRPr/>
            </a:pPr>
            <a:r>
              <a:rPr lang="en-US" dirty="0"/>
              <a:t>Contextual word-vectors (</a:t>
            </a:r>
            <a:r>
              <a:rPr lang="en-US" sz="2200" dirty="0">
                <a:latin typeface="Roboto"/>
              </a:rPr>
              <a:t>Word vectors compress all contexts into a </a:t>
            </a:r>
            <a:r>
              <a:rPr lang="en-US" sz="2200" i="1" dirty="0">
                <a:latin typeface="Roboto"/>
              </a:rPr>
              <a:t>single vector) (2016 - …)</a:t>
            </a:r>
          </a:p>
          <a:p>
            <a:pPr lvl="2">
              <a:defRPr/>
            </a:pPr>
            <a:r>
              <a:rPr lang="en-US" sz="1800" dirty="0">
                <a:latin typeface="Roboto"/>
              </a:rPr>
              <a:t>2016 context2vec </a:t>
            </a:r>
            <a:r>
              <a:rPr lang="en-US" sz="1800" dirty="0">
                <a:latin typeface="Roboto"/>
                <a:hlinkClick r:id="rId9"/>
              </a:rPr>
              <a:t>https://www.aclweb.org/anthology/K16-1006.pdf</a:t>
            </a:r>
            <a:r>
              <a:rPr lang="en-US" sz="1800" dirty="0">
                <a:latin typeface="Roboto"/>
              </a:rPr>
              <a:t> </a:t>
            </a:r>
          </a:p>
          <a:p>
            <a:pPr lvl="2">
              <a:defRPr/>
            </a:pPr>
            <a:r>
              <a:rPr lang="en-US" sz="1800" dirty="0">
                <a:latin typeface="Roboto"/>
              </a:rPr>
              <a:t>2017 </a:t>
            </a:r>
            <a:r>
              <a:rPr lang="en-US" sz="1800" dirty="0" err="1">
                <a:latin typeface="Roboto"/>
              </a:rPr>
              <a:t>tagLM</a:t>
            </a:r>
            <a:r>
              <a:rPr lang="en-US" sz="1800" dirty="0">
                <a:latin typeface="Roboto"/>
              </a:rPr>
              <a:t> </a:t>
            </a:r>
            <a:r>
              <a:rPr lang="en-US" sz="1800" dirty="0">
                <a:latin typeface="Roboto"/>
                <a:hlinkClick r:id="rId10"/>
              </a:rPr>
              <a:t>https://arxiv.org/abs/1705.00108</a:t>
            </a:r>
            <a:r>
              <a:rPr lang="en-US" sz="1800" dirty="0">
                <a:latin typeface="Roboto"/>
              </a:rPr>
              <a:t> </a:t>
            </a:r>
          </a:p>
          <a:p>
            <a:pPr lvl="2">
              <a:defRPr/>
            </a:pPr>
            <a:r>
              <a:rPr lang="en-US" sz="1800" dirty="0">
                <a:latin typeface="Roboto"/>
              </a:rPr>
              <a:t>2017 </a:t>
            </a:r>
            <a:r>
              <a:rPr lang="en-US" sz="1800" dirty="0" err="1">
                <a:latin typeface="Roboto"/>
              </a:rPr>
              <a:t>CoVe</a:t>
            </a:r>
            <a:r>
              <a:rPr lang="en-US" sz="1800" dirty="0">
                <a:latin typeface="Roboto"/>
              </a:rPr>
              <a:t> </a:t>
            </a:r>
            <a:r>
              <a:rPr lang="en-US" sz="1800" dirty="0">
                <a:latin typeface="Roboto"/>
                <a:hlinkClick r:id="rId11"/>
              </a:rPr>
              <a:t>https://papers.nips.cc/paper/2017/hash/20c86a628232a67e7bd46f76fba7ce12-Abstract.html</a:t>
            </a:r>
            <a:endParaRPr lang="en-US" sz="1800" dirty="0">
              <a:latin typeface="Roboto"/>
            </a:endParaRPr>
          </a:p>
          <a:p>
            <a:pPr lvl="2">
              <a:defRPr/>
            </a:pPr>
            <a:r>
              <a:rPr lang="en-US" sz="1800" dirty="0">
                <a:latin typeface="Roboto"/>
              </a:rPr>
              <a:t>2018 </a:t>
            </a:r>
            <a:r>
              <a:rPr lang="en-US" sz="1800" dirty="0" err="1">
                <a:latin typeface="Roboto"/>
              </a:rPr>
              <a:t>ELMo</a:t>
            </a:r>
            <a:r>
              <a:rPr lang="en-US" sz="1800" dirty="0">
                <a:latin typeface="Roboto"/>
              </a:rPr>
              <a:t> </a:t>
            </a:r>
            <a:r>
              <a:rPr lang="en-US" sz="1800" dirty="0">
                <a:latin typeface="Roboto"/>
                <a:hlinkClick r:id="rId12"/>
              </a:rPr>
              <a:t>https://www.aclweb.org/anthology/N18-1202/</a:t>
            </a:r>
            <a:endParaRPr lang="en-US" sz="1800" dirty="0">
              <a:latin typeface="Roboto"/>
            </a:endParaRPr>
          </a:p>
          <a:p>
            <a:pPr lvl="2">
              <a:defRPr/>
            </a:pPr>
            <a:r>
              <a:rPr lang="en-US" sz="1800" dirty="0">
                <a:latin typeface="Roboto"/>
              </a:rPr>
              <a:t>2018 </a:t>
            </a:r>
            <a:r>
              <a:rPr lang="en-US" sz="1800" dirty="0" err="1">
                <a:latin typeface="Roboto"/>
              </a:rPr>
              <a:t>ULMFiT</a:t>
            </a:r>
            <a:r>
              <a:rPr lang="en-US" sz="1800" dirty="0">
                <a:latin typeface="Roboto"/>
              </a:rPr>
              <a:t> </a:t>
            </a:r>
            <a:r>
              <a:rPr lang="en-US" sz="1800" dirty="0">
                <a:latin typeface="Roboto"/>
                <a:hlinkClick r:id="rId13"/>
              </a:rPr>
              <a:t>https://arxiv.org/abs/1801.06146</a:t>
            </a:r>
            <a:r>
              <a:rPr lang="en-US" sz="1800" dirty="0">
                <a:latin typeface="Roboto"/>
              </a:rPr>
              <a:t> </a:t>
            </a:r>
          </a:p>
          <a:p>
            <a:pPr lvl="2">
              <a:defRPr/>
            </a:pPr>
            <a:r>
              <a:rPr lang="en-US" sz="1800" dirty="0">
                <a:latin typeface="Roboto"/>
              </a:rPr>
              <a:t>2019 BERT </a:t>
            </a:r>
            <a:r>
              <a:rPr lang="en-US" sz="1800" dirty="0">
                <a:latin typeface="Roboto"/>
                <a:hlinkClick r:id="rId14"/>
              </a:rPr>
              <a:t>https://arxiv.org/abs/1810.04805</a:t>
            </a:r>
            <a:r>
              <a:rPr lang="en-US" sz="1800" dirty="0">
                <a:latin typeface="Roboto"/>
              </a:rPr>
              <a:t>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76F6A-BD99-883A-CB26-51E0D2E07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DB2F1-AD7E-63F6-330D-62C9E699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67649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520" y="30074"/>
            <a:ext cx="8525933" cy="1008647"/>
          </a:xfrm>
        </p:spPr>
        <p:txBody>
          <a:bodyPr/>
          <a:lstStyle/>
          <a:p>
            <a:pPr algn="ctr"/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Modele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 predictive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invatare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reprezentarilor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67" y="1340768"/>
            <a:ext cx="8534400" cy="4298032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b="1" dirty="0" err="1"/>
              <a:t>Modelul</a:t>
            </a:r>
            <a:r>
              <a:rPr lang="en-US" b="1" dirty="0"/>
              <a:t> Word2vec </a:t>
            </a:r>
          </a:p>
          <a:p>
            <a:pPr lvl="1">
              <a:buClr>
                <a:schemeClr val="tx1"/>
              </a:buClr>
            </a:pPr>
            <a:r>
              <a:rPr lang="en-US" b="1" dirty="0"/>
              <a:t>Skip-gram</a:t>
            </a:r>
            <a:r>
              <a:rPr lang="en-US" dirty="0"/>
              <a:t> (</a:t>
            </a:r>
            <a:r>
              <a:rPr lang="en-US" dirty="0" err="1"/>
              <a:t>Mikolov</a:t>
            </a:r>
            <a:r>
              <a:rPr lang="en-US" dirty="0"/>
              <a:t> et al. 2013a),  </a:t>
            </a:r>
            <a:r>
              <a:rPr lang="en-US" b="1" dirty="0"/>
              <a:t>CBOW</a:t>
            </a:r>
            <a:r>
              <a:rPr lang="en-US" dirty="0"/>
              <a:t> (</a:t>
            </a:r>
            <a:r>
              <a:rPr lang="en-US" dirty="0" err="1"/>
              <a:t>Mikolov</a:t>
            </a:r>
            <a:r>
              <a:rPr lang="en-US" dirty="0"/>
              <a:t> et al. 2013b)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 </a:t>
            </a:r>
            <a:r>
              <a:rPr lang="en-US" dirty="0" err="1"/>
              <a:t>invata</a:t>
            </a:r>
            <a:r>
              <a:rPr lang="en-US" dirty="0"/>
              <a:t> </a:t>
            </a:r>
            <a:r>
              <a:rPr lang="en-US" dirty="0" err="1"/>
              <a:t>reprezentari</a:t>
            </a:r>
            <a:r>
              <a:rPr lang="en-US" dirty="0"/>
              <a:t>, </a:t>
            </a:r>
            <a:r>
              <a:rPr lang="en-US" dirty="0" err="1"/>
              <a:t>numite</a:t>
            </a:r>
            <a:r>
              <a:rPr lang="en-US" dirty="0"/>
              <a:t> embeddings, ca </a:t>
            </a:r>
            <a:r>
              <a:rPr lang="en-US" dirty="0" err="1"/>
              <a:t>parte</a:t>
            </a:r>
            <a:r>
              <a:rPr lang="en-US" dirty="0"/>
              <a:t> din </a:t>
            </a:r>
            <a:r>
              <a:rPr lang="en-US" dirty="0" err="1"/>
              <a:t>procesul</a:t>
            </a:r>
            <a:r>
              <a:rPr lang="en-US" dirty="0"/>
              <a:t> de predictive/</a:t>
            </a:r>
            <a:r>
              <a:rPr lang="en-US" dirty="0" err="1"/>
              <a:t>generare</a:t>
            </a:r>
            <a:r>
              <a:rPr lang="en-US" dirty="0"/>
              <a:t> a </a:t>
            </a:r>
            <a:r>
              <a:rPr lang="en-US" dirty="0" err="1"/>
              <a:t>textului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/>
              <a:t>Se </a:t>
            </a:r>
            <a:r>
              <a:rPr lang="en-US" dirty="0" err="1"/>
              <a:t>antreneaza</a:t>
            </a:r>
            <a:r>
              <a:rPr lang="en-US" dirty="0"/>
              <a:t> o </a:t>
            </a:r>
            <a:r>
              <a:rPr lang="en-US" dirty="0" err="1"/>
              <a:t>retea</a:t>
            </a:r>
            <a:r>
              <a:rPr lang="en-US" dirty="0"/>
              <a:t> </a:t>
            </a:r>
            <a:r>
              <a:rPr lang="en-US" dirty="0" err="1"/>
              <a:t>neuronala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prezicerea</a:t>
            </a:r>
            <a:r>
              <a:rPr lang="en-US" dirty="0"/>
              <a:t> </a:t>
            </a:r>
            <a:r>
              <a:rPr lang="en-US" dirty="0" err="1"/>
              <a:t>urmatorului</a:t>
            </a:r>
            <a:r>
              <a:rPr lang="en-US" dirty="0"/>
              <a:t> </a:t>
            </a:r>
            <a:r>
              <a:rPr lang="en-US" dirty="0" err="1"/>
              <a:t>cuvant</a:t>
            </a:r>
            <a:r>
              <a:rPr lang="en-US" dirty="0"/>
              <a:t> </a:t>
            </a:r>
          </a:p>
          <a:p>
            <a:pPr lvl="1">
              <a:buClr>
                <a:schemeClr val="tx1"/>
              </a:buClr>
            </a:pPr>
            <a:r>
              <a:rPr lang="en-US" dirty="0" err="1"/>
              <a:t>Avantaje</a:t>
            </a:r>
            <a:endParaRPr lang="en-US" dirty="0"/>
          </a:p>
          <a:p>
            <a:pPr lvl="2">
              <a:buClr>
                <a:schemeClr val="tx1"/>
              </a:buClr>
            </a:pPr>
            <a:r>
              <a:rPr lang="en-US" dirty="0"/>
              <a:t>Rapid, </a:t>
            </a:r>
            <a:r>
              <a:rPr lang="en-US" dirty="0" err="1"/>
              <a:t>simplu</a:t>
            </a:r>
            <a:r>
              <a:rPr lang="en-US" dirty="0"/>
              <a:t> de </a:t>
            </a:r>
            <a:r>
              <a:rPr lang="en-US" dirty="0" err="1"/>
              <a:t>antrenat</a:t>
            </a:r>
            <a:endParaRPr lang="en-US" dirty="0"/>
          </a:p>
          <a:p>
            <a:pPr lvl="2">
              <a:buClr>
                <a:schemeClr val="tx1"/>
              </a:buClr>
            </a:pPr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gata</a:t>
            </a:r>
            <a:r>
              <a:rPr lang="en-US" dirty="0"/>
              <a:t> </a:t>
            </a:r>
            <a:r>
              <a:rPr lang="en-US" dirty="0" err="1"/>
              <a:t>antrente</a:t>
            </a:r>
            <a:r>
              <a:rPr lang="en-US" dirty="0"/>
              <a:t> </a:t>
            </a:r>
            <a:r>
              <a:rPr lang="en-US" dirty="0" err="1"/>
              <a:t>disponibile</a:t>
            </a:r>
            <a:r>
              <a:rPr lang="en-US" dirty="0"/>
              <a:t> online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76F6A-BD99-883A-CB26-51E0D2E07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DB2F1-AD7E-63F6-330D-62C9E699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86499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43F1-5ADD-A779-E10B-7BFD0F2B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Invatare</a:t>
            </a:r>
            <a:r>
              <a:rPr lang="en-US" dirty="0"/>
              <a:t> </a:t>
            </a:r>
            <a:r>
              <a:rPr lang="en-US" dirty="0" err="1"/>
              <a:t>supervizata</a:t>
            </a:r>
            <a:r>
              <a:rPr lang="en-US" dirty="0"/>
              <a:t>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etichetare</a:t>
            </a:r>
            <a:r>
              <a:rPr lang="en-US" dirty="0"/>
              <a:t> </a:t>
            </a:r>
            <a:r>
              <a:rPr lang="en-US" dirty="0" err="1"/>
              <a:t>manuala</a:t>
            </a:r>
            <a:r>
              <a:rPr lang="en-US" dirty="0"/>
              <a:t> de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42DA-D297-98AC-F030-7D08E8FBA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Text: “</a:t>
            </a:r>
            <a:r>
              <a:rPr lang="en-US" sz="1800" i="1" dirty="0"/>
              <a:t>She rides a bike. He rides a scooter in park. My father drives a motorcycle. …”</a:t>
            </a:r>
          </a:p>
          <a:p>
            <a:r>
              <a:rPr lang="en-US" sz="1800" dirty="0"/>
              <a:t>Vocabular V = {</a:t>
            </a:r>
            <a:r>
              <a:rPr lang="en-US" sz="1800" i="1" dirty="0"/>
              <a:t>she, ride, bike, he, scooter, park, my, father, drive, motorcycle</a:t>
            </a:r>
            <a:r>
              <a:rPr lang="en-US" sz="1800" dirty="0"/>
              <a:t>}</a:t>
            </a:r>
          </a:p>
          <a:p>
            <a:r>
              <a:rPr lang="en-US" sz="1800" dirty="0" err="1"/>
              <a:t>Perechi</a:t>
            </a:r>
            <a:r>
              <a:rPr lang="en-US" sz="1800" dirty="0"/>
              <a:t> (context, </a:t>
            </a:r>
            <a:r>
              <a:rPr lang="en-US" sz="1800" dirty="0" err="1"/>
              <a:t>cuvant</a:t>
            </a:r>
            <a:r>
              <a:rPr lang="en-US" sz="1800" dirty="0"/>
              <a:t>)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D9D12-70AF-5AFD-3B7E-1FDAFFFF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80504-4E15-7915-D91B-66098E1BC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10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0D9EAC-7A83-F3EC-496D-97E29CF68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675286"/>
              </p:ext>
            </p:extLst>
          </p:nvPr>
        </p:nvGraphicFramePr>
        <p:xfrm>
          <a:off x="1048937" y="2983707"/>
          <a:ext cx="69731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3544">
                  <a:extLst>
                    <a:ext uri="{9D8B030D-6E8A-4147-A177-3AD203B41FA5}">
                      <a16:colId xmlns:a16="http://schemas.microsoft.com/office/drawing/2014/main" val="2356271171"/>
                    </a:ext>
                  </a:extLst>
                </a:gridCol>
                <a:gridCol w="291164">
                  <a:extLst>
                    <a:ext uri="{9D8B030D-6E8A-4147-A177-3AD203B41FA5}">
                      <a16:colId xmlns:a16="http://schemas.microsoft.com/office/drawing/2014/main" val="238566031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817353501"/>
                    </a:ext>
                  </a:extLst>
                </a:gridCol>
                <a:gridCol w="2509049">
                  <a:extLst>
                    <a:ext uri="{9D8B030D-6E8A-4147-A177-3AD203B41FA5}">
                      <a16:colId xmlns:a16="http://schemas.microsoft.com/office/drawing/2014/main" val="2183501227"/>
                    </a:ext>
                  </a:extLst>
                </a:gridCol>
                <a:gridCol w="515287">
                  <a:extLst>
                    <a:ext uri="{9D8B030D-6E8A-4147-A177-3AD203B41FA5}">
                      <a16:colId xmlns:a16="http://schemas.microsoft.com/office/drawing/2014/main" val="3188752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[she ride] bike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[she ride] 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16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[ride bike] 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[she ride] scooter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151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[he ride] scooter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[she ride] park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505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[ride scooter] park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[she ride] my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800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[my father] drive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[she ride] father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39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[father drive] motorcycle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[she ride] drive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8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/>
                      </a:pPr>
                      <a:r>
                        <a:rPr lang="en-US" dirty="0"/>
                        <a:t>[ride bike] scooter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35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/>
                      </a:pPr>
                      <a:r>
                        <a:rPr lang="en-US" dirty="0"/>
                        <a:t>[ride bike] park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97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/>
                      </a:pPr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556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/>
                      </a:pPr>
                      <a:r>
                        <a:rPr lang="en-US" dirty="0"/>
                        <a:t>[father drive] she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9338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A3A682D-A873-59C8-3D6B-A63DC0A68450}"/>
              </a:ext>
            </a:extLst>
          </p:cNvPr>
          <p:cNvSpPr txBox="1"/>
          <p:nvPr/>
        </p:nvSpPr>
        <p:spPr>
          <a:xfrm>
            <a:off x="5436096" y="2492896"/>
            <a:ext cx="331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9900"/>
                </a:solidFill>
              </a:rPr>
              <a:t>Negative sampling</a:t>
            </a:r>
          </a:p>
        </p:txBody>
      </p:sp>
    </p:spTree>
    <p:extLst>
      <p:ext uri="{BB962C8B-B14F-4D97-AF65-F5344CB8AC3E}">
        <p14:creationId xmlns:p14="http://schemas.microsoft.com/office/powerpoint/2010/main" val="2295771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FFA5-121A-CBC5-84A4-9A2EBF9D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Arhitecturi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361F8-607B-0A30-1B99-B0F7930B9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CD02E-3077-1023-3FDA-3E8F8A8D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11</a:t>
            </a:fld>
            <a:endParaRPr lang="en-GB" alt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A81D489-29DF-102A-D33B-7C8D290DC5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568" y="2299266"/>
            <a:ext cx="6811326" cy="3267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32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2502751" y="2190156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02752" y="3803226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964520" y="2677467"/>
            <a:ext cx="41069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she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2659" y="4338150"/>
            <a:ext cx="43313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ride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4449258" y="3211566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400479" y="2992542"/>
            <a:ext cx="154307" cy="1337310"/>
            <a:chOff x="1800225" y="419100"/>
            <a:chExt cx="182883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8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244132" y="1907245"/>
            <a:ext cx="90281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657056" y="2190159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57055" y="3209350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52338" y="3526049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57055" y="4022251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190641" y="2632481"/>
            <a:ext cx="1005403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22278" y="3545894"/>
            <a:ext cx="45397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bike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4603562" y="2991859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603562" y="4013954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091824" y="2665923"/>
            <a:ext cx="1002197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91116" y="3497846"/>
            <a:ext cx="692818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one-hot</a:t>
            </a:r>
          </a:p>
          <a:p>
            <a:r>
              <a:rPr lang="en-US" sz="1013" dirty="0"/>
              <a:t>vector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97277" y="3497845"/>
            <a:ext cx="692818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one-hot</a:t>
            </a:r>
          </a:p>
          <a:p>
            <a:r>
              <a:rPr lang="en-US" sz="1013" dirty="0"/>
              <a:t>vector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6896" y="2155454"/>
            <a:ext cx="191110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>
                <a:solidFill>
                  <a:srgbClr val="FF0000"/>
                </a:solidFill>
              </a:rPr>
              <a:t>Index of </a:t>
            </a:r>
            <a:r>
              <a:rPr lang="en-US" sz="1013" i="1" dirty="0">
                <a:solidFill>
                  <a:srgbClr val="FF0000"/>
                </a:solidFill>
              </a:rPr>
              <a:t>she</a:t>
            </a:r>
            <a:r>
              <a:rPr lang="en-US" sz="1013" dirty="0">
                <a:solidFill>
                  <a:srgbClr val="FF0000"/>
                </a:solidFill>
              </a:rPr>
              <a:t> in vocabulary</a:t>
            </a: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C508544C-AD12-EA4B-A205-4BB1CECC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577"/>
            <a:ext cx="7467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CBOW (Continuous Bag of Words)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E0B5DF-4CA5-F7E9-E8BA-89691B4A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778CF-E6F7-5B5A-6E1A-396A20E5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12</a:t>
            </a:fld>
            <a:endParaRPr lang="en-GB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D926CF-4225-5602-E158-BED48C4EC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117124"/>
              </p:ext>
            </p:extLst>
          </p:nvPr>
        </p:nvGraphicFramePr>
        <p:xfrm>
          <a:off x="2339752" y="829768"/>
          <a:ext cx="6768751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341">
                  <a:extLst>
                    <a:ext uri="{9D8B030D-6E8A-4147-A177-3AD203B41FA5}">
                      <a16:colId xmlns:a16="http://schemas.microsoft.com/office/drawing/2014/main" val="1558705887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4135176818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1012993407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3257130221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682200392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3901191475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958498790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822144930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2441562228"/>
                    </a:ext>
                  </a:extLst>
                </a:gridCol>
                <a:gridCol w="438596">
                  <a:extLst>
                    <a:ext uri="{9D8B030D-6E8A-4147-A177-3AD203B41FA5}">
                      <a16:colId xmlns:a16="http://schemas.microsoft.com/office/drawing/2014/main" val="3947750978"/>
                    </a:ext>
                  </a:extLst>
                </a:gridCol>
                <a:gridCol w="792086">
                  <a:extLst>
                    <a:ext uri="{9D8B030D-6E8A-4147-A177-3AD203B41FA5}">
                      <a16:colId xmlns:a16="http://schemas.microsoft.com/office/drawing/2014/main" val="338808962"/>
                    </a:ext>
                  </a:extLst>
                </a:gridCol>
              </a:tblGrid>
              <a:tr h="120744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she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scooter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father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motorcycle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183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She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48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688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Bike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780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1054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2502751" y="2190156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02752" y="3803226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964520" y="2677467"/>
            <a:ext cx="41069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she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2659" y="4338150"/>
            <a:ext cx="43313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ride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4449258" y="3211566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400479" y="2992542"/>
            <a:ext cx="154307" cy="1337310"/>
            <a:chOff x="1800225" y="419100"/>
            <a:chExt cx="182883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8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244132" y="1907245"/>
            <a:ext cx="90281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657056" y="2190159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57055" y="3209350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52338" y="3526049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57055" y="4022251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190641" y="2632481"/>
            <a:ext cx="1005403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22278" y="3545894"/>
            <a:ext cx="45397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bike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4603562" y="2991859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603562" y="4013954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091824" y="2665923"/>
            <a:ext cx="1002197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91116" y="3497846"/>
            <a:ext cx="692818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one-hot</a:t>
            </a:r>
          </a:p>
          <a:p>
            <a:r>
              <a:rPr lang="en-US" sz="1013" dirty="0"/>
              <a:t>vector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97277" y="3497845"/>
            <a:ext cx="692818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one-hot</a:t>
            </a:r>
          </a:p>
          <a:p>
            <a:r>
              <a:rPr lang="en-US" sz="1013" dirty="0"/>
              <a:t>vector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6896" y="2155454"/>
            <a:ext cx="191110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>
                <a:solidFill>
                  <a:srgbClr val="FF0000"/>
                </a:solidFill>
              </a:rPr>
              <a:t>Index of </a:t>
            </a:r>
            <a:r>
              <a:rPr lang="en-US" sz="1013" i="1" dirty="0">
                <a:solidFill>
                  <a:srgbClr val="FF0000"/>
                </a:solidFill>
              </a:rPr>
              <a:t>she</a:t>
            </a:r>
            <a:r>
              <a:rPr lang="en-US" sz="1013" dirty="0">
                <a:solidFill>
                  <a:srgbClr val="FF0000"/>
                </a:solidFill>
              </a:rPr>
              <a:t> in vocabulary</a:t>
            </a: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C508544C-AD12-EA4B-A205-4BB1CECC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577"/>
            <a:ext cx="7467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CBOW (Continuous Bag of Words)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E0B5DF-4CA5-F7E9-E8BA-89691B4A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778CF-E6F7-5B5A-6E1A-396A20E5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13</a:t>
            </a:fld>
            <a:endParaRPr lang="en-GB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D926CF-4225-5602-E158-BED48C4ECBF4}"/>
              </a:ext>
            </a:extLst>
          </p:cNvPr>
          <p:cNvGraphicFramePr>
            <a:graphicFrameLocks noGrp="1"/>
          </p:cNvGraphicFramePr>
          <p:nvPr/>
        </p:nvGraphicFramePr>
        <p:xfrm>
          <a:off x="2339752" y="829768"/>
          <a:ext cx="6768751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341">
                  <a:extLst>
                    <a:ext uri="{9D8B030D-6E8A-4147-A177-3AD203B41FA5}">
                      <a16:colId xmlns:a16="http://schemas.microsoft.com/office/drawing/2014/main" val="1558705887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4135176818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1012993407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3257130221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682200392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3901191475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958498790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822144930"/>
                    </a:ext>
                  </a:extLst>
                </a:gridCol>
                <a:gridCol w="615341">
                  <a:extLst>
                    <a:ext uri="{9D8B030D-6E8A-4147-A177-3AD203B41FA5}">
                      <a16:colId xmlns:a16="http://schemas.microsoft.com/office/drawing/2014/main" val="2441562228"/>
                    </a:ext>
                  </a:extLst>
                </a:gridCol>
                <a:gridCol w="438596">
                  <a:extLst>
                    <a:ext uri="{9D8B030D-6E8A-4147-A177-3AD203B41FA5}">
                      <a16:colId xmlns:a16="http://schemas.microsoft.com/office/drawing/2014/main" val="3947750978"/>
                    </a:ext>
                  </a:extLst>
                </a:gridCol>
                <a:gridCol w="792086">
                  <a:extLst>
                    <a:ext uri="{9D8B030D-6E8A-4147-A177-3AD203B41FA5}">
                      <a16:colId xmlns:a16="http://schemas.microsoft.com/office/drawing/2014/main" val="338808962"/>
                    </a:ext>
                  </a:extLst>
                </a:gridCol>
              </a:tblGrid>
              <a:tr h="120744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she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scooter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father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motorcycle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183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She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48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688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Bike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78062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D8114A-BA1B-787E-48B4-36C1D56A82BA}"/>
                  </a:ext>
                </a:extLst>
              </p:cNvPr>
              <p:cNvSpPr txBox="1"/>
              <p:nvPr/>
            </p:nvSpPr>
            <p:spPr>
              <a:xfrm>
                <a:off x="2830197" y="2695777"/>
                <a:ext cx="744819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D8114A-BA1B-787E-48B4-36C1D56A8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197" y="2695777"/>
                <a:ext cx="744819" cy="3347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5B3B81-5904-76C1-C7C0-F21F6980BD35}"/>
                  </a:ext>
                </a:extLst>
              </p:cNvPr>
              <p:cNvSpPr txBox="1"/>
              <p:nvPr/>
            </p:nvSpPr>
            <p:spPr>
              <a:xfrm>
                <a:off x="2846168" y="4145795"/>
                <a:ext cx="744819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5B3B81-5904-76C1-C7C0-F21F6980B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168" y="4145795"/>
                <a:ext cx="744819" cy="3347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1BFC1BD-0F5C-85CC-B29A-72771C612CA4}"/>
              </a:ext>
            </a:extLst>
          </p:cNvPr>
          <p:cNvSpPr txBox="1"/>
          <p:nvPr/>
        </p:nvSpPr>
        <p:spPr>
          <a:xfrm>
            <a:off x="2041972" y="3354745"/>
            <a:ext cx="5741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71663-2FC7-BEBC-D8A0-F35313718E06}"/>
              </a:ext>
            </a:extLst>
          </p:cNvPr>
          <p:cNvSpPr txBox="1"/>
          <p:nvPr/>
        </p:nvSpPr>
        <p:spPr>
          <a:xfrm>
            <a:off x="2041972" y="4949388"/>
            <a:ext cx="5741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632AFC-A6DE-69A7-8AB3-222CC2D35EE2}"/>
              </a:ext>
            </a:extLst>
          </p:cNvPr>
          <p:cNvSpPr txBox="1"/>
          <p:nvPr/>
        </p:nvSpPr>
        <p:spPr>
          <a:xfrm>
            <a:off x="4335513" y="4127226"/>
            <a:ext cx="583814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N-dim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890356-7709-CA50-A38E-5AF0F2F6D207}"/>
              </a:ext>
            </a:extLst>
          </p:cNvPr>
          <p:cNvSpPr txBox="1"/>
          <p:nvPr/>
        </p:nvSpPr>
        <p:spPr>
          <a:xfrm>
            <a:off x="6660720" y="4163704"/>
            <a:ext cx="5741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51A0C5-E546-0A5B-72E0-4986111461D0}"/>
              </a:ext>
            </a:extLst>
          </p:cNvPr>
          <p:cNvSpPr txBox="1"/>
          <p:nvPr/>
        </p:nvSpPr>
        <p:spPr>
          <a:xfrm>
            <a:off x="3669043" y="4949388"/>
            <a:ext cx="3991798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 = </a:t>
            </a:r>
            <a:r>
              <a:rPr lang="en-US" sz="1013" dirty="0" err="1"/>
              <a:t>dimensiunea</a:t>
            </a:r>
            <a:r>
              <a:rPr lang="en-US" sz="1013" dirty="0"/>
              <a:t> </a:t>
            </a:r>
            <a:r>
              <a:rPr lang="en-US" sz="1013" dirty="0" err="1"/>
              <a:t>reprezentarii</a:t>
            </a:r>
            <a:r>
              <a:rPr lang="en-US" sz="1013" dirty="0"/>
              <a:t> (</a:t>
            </a:r>
            <a:r>
              <a:rPr lang="en-US" sz="1013" dirty="0" err="1"/>
              <a:t>lungimea</a:t>
            </a:r>
            <a:r>
              <a:rPr lang="en-US" sz="1013" dirty="0"/>
              <a:t> embedding-</a:t>
            </a:r>
            <a:r>
              <a:rPr lang="en-US" sz="1013" dirty="0" err="1"/>
              <a:t>ului</a:t>
            </a:r>
            <a:r>
              <a:rPr lang="en-US" sz="1013" dirty="0"/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702158-4B02-92E5-76DA-983E50C265E5}"/>
              </a:ext>
            </a:extLst>
          </p:cNvPr>
          <p:cNvSpPr txBox="1"/>
          <p:nvPr/>
        </p:nvSpPr>
        <p:spPr>
          <a:xfrm>
            <a:off x="3901355" y="1686812"/>
            <a:ext cx="14814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>
                <a:solidFill>
                  <a:srgbClr val="FF0000"/>
                </a:solidFill>
              </a:rPr>
              <a:t>De </a:t>
            </a:r>
            <a:r>
              <a:rPr lang="en-US" sz="1013" dirty="0" err="1">
                <a:solidFill>
                  <a:srgbClr val="FF0000"/>
                </a:solidFill>
              </a:rPr>
              <a:t>invatat</a:t>
            </a:r>
            <a:r>
              <a:rPr lang="en-US" sz="1013" dirty="0">
                <a:solidFill>
                  <a:srgbClr val="FF0000"/>
                </a:solidFill>
              </a:rPr>
              <a:t>: W </a:t>
            </a:r>
            <a:r>
              <a:rPr lang="en-US" sz="1013" dirty="0" err="1">
                <a:solidFill>
                  <a:srgbClr val="FF0000"/>
                </a:solidFill>
              </a:rPr>
              <a:t>si</a:t>
            </a:r>
            <a:r>
              <a:rPr lang="en-US" sz="1013" dirty="0">
                <a:solidFill>
                  <a:srgbClr val="FF0000"/>
                </a:solidFill>
              </a:rPr>
              <a:t> W</a:t>
            </a:r>
            <a:r>
              <a:rPr lang="en-US" sz="1013" baseline="30000" dirty="0">
                <a:solidFill>
                  <a:srgbClr val="FF0000"/>
                </a:solidFill>
              </a:rPr>
              <a:t>’</a:t>
            </a:r>
            <a:r>
              <a:rPr lang="en-US" sz="1013" dirty="0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96A5A78-8932-AC94-7FB6-2AA14790E17D}"/>
              </a:ext>
            </a:extLst>
          </p:cNvPr>
          <p:cNvCxnSpPr>
            <a:stCxn id="36" idx="2"/>
            <a:endCxn id="4" idx="3"/>
          </p:cNvCxnSpPr>
          <p:nvPr/>
        </p:nvCxnSpPr>
        <p:spPr>
          <a:xfrm flipH="1">
            <a:off x="3575016" y="1935021"/>
            <a:ext cx="1067087" cy="928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BE5E8A9-3193-669D-EF67-B3A35A6FB708}"/>
              </a:ext>
            </a:extLst>
          </p:cNvPr>
          <p:cNvCxnSpPr>
            <a:stCxn id="36" idx="2"/>
          </p:cNvCxnSpPr>
          <p:nvPr/>
        </p:nvCxnSpPr>
        <p:spPr>
          <a:xfrm>
            <a:off x="4642103" y="1935021"/>
            <a:ext cx="1101323" cy="1524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241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2502751" y="2190156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02752" y="3803226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964520" y="2677467"/>
            <a:ext cx="41069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she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2659" y="4338150"/>
            <a:ext cx="43313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ride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4449258" y="3211566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400479" y="2992542"/>
            <a:ext cx="154307" cy="1337310"/>
            <a:chOff x="1800225" y="419100"/>
            <a:chExt cx="182883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8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244132" y="1907245"/>
            <a:ext cx="90281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657056" y="2190159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57055" y="3209350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52338" y="3526049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57055" y="4022251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190641" y="2632481"/>
            <a:ext cx="1005403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22278" y="3545894"/>
            <a:ext cx="45397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bike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4603562" y="2991859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603562" y="4013954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091824" y="2665923"/>
            <a:ext cx="1002197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91116" y="3497846"/>
            <a:ext cx="692818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one-hot</a:t>
            </a:r>
          </a:p>
          <a:p>
            <a:r>
              <a:rPr lang="en-US" sz="1013" dirty="0"/>
              <a:t>vector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97277" y="3497845"/>
            <a:ext cx="692818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one-hot</a:t>
            </a:r>
          </a:p>
          <a:p>
            <a:r>
              <a:rPr lang="en-US" sz="1013" dirty="0"/>
              <a:t>vector</a:t>
            </a: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C508544C-AD12-EA4B-A205-4BB1CECC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577"/>
            <a:ext cx="7467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CBOW (Continuous Bag of Words)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E0B5DF-4CA5-F7E9-E8BA-89691B4A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778CF-E6F7-5B5A-6E1A-396A20E5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43179-0DC7-31D8-031C-017ADD3F4AEC}"/>
              </a:ext>
            </a:extLst>
          </p:cNvPr>
          <p:cNvSpPr txBox="1"/>
          <p:nvPr/>
        </p:nvSpPr>
        <p:spPr>
          <a:xfrm>
            <a:off x="2160150" y="2448195"/>
            <a:ext cx="41229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she</a:t>
            </a:r>
            <a:endParaRPr lang="en-US" sz="101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7BD06-9BAE-59AF-E917-85CCCC268189}"/>
              </a:ext>
            </a:extLst>
          </p:cNvPr>
          <p:cNvSpPr txBox="1"/>
          <p:nvPr/>
        </p:nvSpPr>
        <p:spPr>
          <a:xfrm>
            <a:off x="2110696" y="4108593"/>
            <a:ext cx="42832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ride</a:t>
            </a:r>
            <a:endParaRPr lang="en-US" sz="1013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9304E-EBF8-19A1-4FFB-C2D84873284E}"/>
              </a:ext>
            </a:extLst>
          </p:cNvPr>
          <p:cNvSpPr txBox="1"/>
          <p:nvPr/>
        </p:nvSpPr>
        <p:spPr>
          <a:xfrm>
            <a:off x="4204078" y="4174933"/>
            <a:ext cx="1005403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A88DE5-6810-C956-9605-07B2F6A9FF7F}"/>
              </a:ext>
            </a:extLst>
          </p:cNvPr>
          <p:cNvSpPr txBox="1"/>
          <p:nvPr/>
        </p:nvSpPr>
        <p:spPr>
          <a:xfrm>
            <a:off x="4346806" y="4372669"/>
            <a:ext cx="583814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753CC0-2EE1-CEA9-620E-966B3576D553}"/>
                  </a:ext>
                </a:extLst>
              </p:cNvPr>
              <p:cNvSpPr txBox="1"/>
              <p:nvPr/>
            </p:nvSpPr>
            <p:spPr>
              <a:xfrm rot="1413182">
                <a:off x="2617569" y="2818910"/>
                <a:ext cx="1975156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575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75" b="0" i="1" smtClean="0">
                              <a:latin typeface="Cambria Math" panose="02040503050406030204" pitchFamily="18" charset="0"/>
                            </a:rPr>
                            <m:t>𝑠h𝑒</m:t>
                          </m:r>
                        </m:sub>
                      </m:sSub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575" b="0" i="1" smtClean="0">
                              <a:latin typeface="Cambria Math" panose="02040503050406030204" pitchFamily="18" charset="0"/>
                            </a:rPr>
                            <m:t>𝑠h𝑒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753CC0-2EE1-CEA9-620E-966B3576D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413182">
                <a:off x="2617569" y="2818910"/>
                <a:ext cx="1975156" cy="3396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24FC09-C259-2875-EC48-3620E88A5531}"/>
                  </a:ext>
                </a:extLst>
              </p:cNvPr>
              <p:cNvSpPr txBox="1"/>
              <p:nvPr/>
            </p:nvSpPr>
            <p:spPr>
              <a:xfrm rot="19631347">
                <a:off x="2578367" y="3900939"/>
                <a:ext cx="2096984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575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75" b="0" i="1" smtClean="0">
                              <a:latin typeface="Cambria Math" panose="02040503050406030204" pitchFamily="18" charset="0"/>
                            </a:rPr>
                            <m:t>𝑟𝑖𝑑𝑒</m:t>
                          </m:r>
                        </m:sub>
                      </m:sSub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575" b="0" i="1" smtClean="0">
                              <a:latin typeface="Cambria Math" panose="02040503050406030204" pitchFamily="18" charset="0"/>
                            </a:rPr>
                            <m:t>𝑟𝑖𝑑𝑒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24FC09-C259-2875-EC48-3620E88A5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31347">
                <a:off x="2578367" y="3900939"/>
                <a:ext cx="2096984" cy="3396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0EAB05-4D5F-0E44-42BC-E466119BBBAE}"/>
                  </a:ext>
                </a:extLst>
              </p:cNvPr>
              <p:cNvSpPr txBox="1"/>
              <p:nvPr/>
            </p:nvSpPr>
            <p:spPr>
              <a:xfrm>
                <a:off x="4573493" y="3345566"/>
                <a:ext cx="1137298" cy="374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013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13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013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13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13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13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013" b="0" i="1" smtClean="0">
                                  <a:latin typeface="Cambria Math" panose="02040503050406030204" pitchFamily="18" charset="0"/>
                                </a:rPr>
                                <m:t>𝑠h𝑒</m:t>
                              </m:r>
                            </m:sub>
                          </m:sSub>
                          <m:r>
                            <a:rPr lang="en-US" sz="1013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013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13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013" b="0" i="1" smtClean="0">
                                  <a:latin typeface="Cambria Math" panose="02040503050406030204" pitchFamily="18" charset="0"/>
                                </a:rPr>
                                <m:t>𝑟𝑖𝑑𝑒</m:t>
                              </m:r>
                            </m:sub>
                          </m:sSub>
                        </m:num>
                        <m:den>
                          <m:r>
                            <a:rPr lang="en-US" sz="1013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0EAB05-4D5F-0E44-42BC-E466119BB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493" y="3345566"/>
                <a:ext cx="1137298" cy="374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606120D-1313-B275-DC93-6FD65BD47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032863"/>
              </p:ext>
            </p:extLst>
          </p:nvPr>
        </p:nvGraphicFramePr>
        <p:xfrm>
          <a:off x="3202730" y="1562090"/>
          <a:ext cx="1851660" cy="92583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:a16="http://schemas.microsoft.com/office/drawing/2014/main" val="4253241636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4278168359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1775200123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058570661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635929464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1060927547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2648937507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865230097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2604712063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79722658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3.2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04826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2.6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3.6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6.1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16080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311445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582356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0.6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2.7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9996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54FD365-AE75-2351-9BF7-A1E0B34035D9}"/>
                  </a:ext>
                </a:extLst>
              </p:cNvPr>
              <p:cNvSpPr txBox="1"/>
              <p:nvPr/>
            </p:nvSpPr>
            <p:spPr>
              <a:xfrm>
                <a:off x="5034844" y="1921317"/>
                <a:ext cx="322524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13" i="1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54FD365-AE75-2351-9BF7-A1E0B3403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844" y="1921317"/>
                <a:ext cx="322524" cy="2482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66BD9C5-1E67-952F-29F1-242264149531}"/>
                  </a:ext>
                </a:extLst>
              </p:cNvPr>
              <p:cNvSpPr txBox="1"/>
              <p:nvPr/>
            </p:nvSpPr>
            <p:spPr>
              <a:xfrm>
                <a:off x="3814051" y="1124744"/>
                <a:ext cx="2603533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575" i="1">
                          <a:latin typeface="Cambria Math" panose="02040503050406030204" pitchFamily="18" charset="0"/>
                        </a:rPr>
                        <m:t>              ×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75" b="0" i="1" smtClean="0">
                              <a:latin typeface="Cambria Math" panose="02040503050406030204" pitchFamily="18" charset="0"/>
                            </a:rPr>
                            <m:t>𝑠h𝑒</m:t>
                          </m:r>
                        </m:sub>
                      </m:sSub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575" b="0" i="1" smtClean="0">
                              <a:latin typeface="Cambria Math" panose="02040503050406030204" pitchFamily="18" charset="0"/>
                            </a:rPr>
                            <m:t>𝑠h𝑒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66BD9C5-1E67-952F-29F1-242264149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051" y="1124744"/>
                <a:ext cx="2603533" cy="339645"/>
              </a:xfrm>
              <a:prstGeom prst="rect">
                <a:avLst/>
              </a:prstGeom>
              <a:blipFill>
                <a:blip r:embed="rId6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A6FF5DBD-08D4-CB2D-F3F9-9FD86A5D6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047382"/>
              </p:ext>
            </p:extLst>
          </p:nvPr>
        </p:nvGraphicFramePr>
        <p:xfrm>
          <a:off x="5830072" y="1563326"/>
          <a:ext cx="185166" cy="92583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:a16="http://schemas.microsoft.com/office/drawing/2014/main" val="425515912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43869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4459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56361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155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0.6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530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3679C27-D9B7-173B-79A1-EEA52807ECEF}"/>
                  </a:ext>
                </a:extLst>
              </p:cNvPr>
              <p:cNvSpPr txBox="1"/>
              <p:nvPr/>
            </p:nvSpPr>
            <p:spPr>
              <a:xfrm>
                <a:off x="5523962" y="1928925"/>
                <a:ext cx="327333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13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3679C27-D9B7-173B-79A1-EEA52807E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3962" y="1928925"/>
                <a:ext cx="327333" cy="2482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1E33F365-46F2-E818-46FF-83FA24C05AE0}"/>
              </a:ext>
            </a:extLst>
          </p:cNvPr>
          <p:cNvGrpSpPr/>
          <p:nvPr/>
        </p:nvGrpSpPr>
        <p:grpSpPr>
          <a:xfrm>
            <a:off x="5347974" y="1490285"/>
            <a:ext cx="154305" cy="1337310"/>
            <a:chOff x="1800225" y="419100"/>
            <a:chExt cx="182880" cy="1828800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63ECBE3-AC5D-2EFC-3B81-EE4A65B72D5A}"/>
                </a:ext>
              </a:extLst>
            </p:cNvPr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4459D93-9423-1ACA-C8F1-9EA55E3B4D6B}"/>
                </a:ext>
              </a:extLst>
            </p:cNvPr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265A88E-DA48-2AFE-02F0-35C436B4C0F5}"/>
                </a:ext>
              </a:extLst>
            </p:cNvPr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C88EA3D-6EF5-D1FF-D09B-CD83B3638550}"/>
                </a:ext>
              </a:extLst>
            </p:cNvPr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5FEB24B-7FA2-E63B-6885-7FDB56FC3E68}"/>
                </a:ext>
              </a:extLst>
            </p:cNvPr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A4D2C5A-6FEE-58D0-3AE3-0758A508BB88}"/>
                </a:ext>
              </a:extLst>
            </p:cNvPr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50F534F-2F6C-8B52-75ED-DF2826EDD9D2}"/>
                </a:ext>
              </a:extLst>
            </p:cNvPr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8E343D1-7B6B-C47E-D54A-3CDC48B426C2}"/>
                </a:ext>
              </a:extLst>
            </p:cNvPr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70306BC-5A2B-B8BB-9204-E6AC7BC2EFDD}"/>
                </a:ext>
              </a:extLst>
            </p:cNvPr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863646C-E0C0-D94C-AB27-370418CFB593}"/>
                </a:ext>
              </a:extLst>
            </p:cNvPr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AC2520-E2B2-08C2-B0EB-BD4642CB75AD}"/>
              </a:ext>
            </a:extLst>
          </p:cNvPr>
          <p:cNvSpPr txBox="1"/>
          <p:nvPr/>
        </p:nvSpPr>
        <p:spPr>
          <a:xfrm>
            <a:off x="6228184" y="1562090"/>
            <a:ext cx="22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Embeding</a:t>
            </a:r>
            <a:r>
              <a:rPr lang="en-US" sz="1400" dirty="0"/>
              <a:t>(she)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FEBCD64-4E78-C0A1-6796-8CA9BE9F5C83}"/>
              </a:ext>
            </a:extLst>
          </p:cNvPr>
          <p:cNvCxnSpPr>
            <a:stCxn id="8" idx="1"/>
          </p:cNvCxnSpPr>
          <p:nvPr/>
        </p:nvCxnSpPr>
        <p:spPr bwMode="auto">
          <a:xfrm flipH="1">
            <a:off x="6015238" y="1715979"/>
            <a:ext cx="212946" cy="175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479993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2502751" y="2190156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02752" y="3803226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449258" y="3211566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400479" y="2992542"/>
            <a:ext cx="154307" cy="1337310"/>
            <a:chOff x="1800225" y="419100"/>
            <a:chExt cx="182883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8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244132" y="1907245"/>
            <a:ext cx="90281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657056" y="2190159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57055" y="3209350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52338" y="3526049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57055" y="4022251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190641" y="2632481"/>
            <a:ext cx="1005403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22278" y="3545894"/>
            <a:ext cx="45397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bike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4603562" y="2991859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603562" y="4013954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091824" y="2665923"/>
            <a:ext cx="1002197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91116" y="3497846"/>
            <a:ext cx="692818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one-hot</a:t>
            </a:r>
          </a:p>
          <a:p>
            <a:r>
              <a:rPr lang="en-US" sz="1013" dirty="0"/>
              <a:t>vector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97277" y="3497845"/>
            <a:ext cx="692818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one-hot</a:t>
            </a:r>
          </a:p>
          <a:p>
            <a:r>
              <a:rPr lang="en-US" sz="1013" dirty="0"/>
              <a:t>vector</a:t>
            </a: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C508544C-AD12-EA4B-A205-4BB1CECC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577"/>
            <a:ext cx="7467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CBOW (Continuous Bag of Words)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E0B5DF-4CA5-F7E9-E8BA-89691B4A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778CF-E6F7-5B5A-6E1A-396A20E5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4F728-FEAD-9C56-1789-5E8A881ED659}"/>
              </a:ext>
            </a:extLst>
          </p:cNvPr>
          <p:cNvSpPr txBox="1"/>
          <p:nvPr/>
        </p:nvSpPr>
        <p:spPr>
          <a:xfrm>
            <a:off x="2127937" y="2953227"/>
            <a:ext cx="41229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she</a:t>
            </a:r>
            <a:endParaRPr lang="en-US" sz="101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E9AF8-0EC0-36D6-7110-BF506CE89562}"/>
              </a:ext>
            </a:extLst>
          </p:cNvPr>
          <p:cNvSpPr txBox="1"/>
          <p:nvPr/>
        </p:nvSpPr>
        <p:spPr>
          <a:xfrm>
            <a:off x="2098641" y="4470438"/>
            <a:ext cx="42832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ride</a:t>
            </a:r>
            <a:endParaRPr lang="en-US" sz="1013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A0E3B7-245B-5DDE-762E-E1409055966F}"/>
                  </a:ext>
                </a:extLst>
              </p:cNvPr>
              <p:cNvSpPr txBox="1"/>
              <p:nvPr/>
            </p:nvSpPr>
            <p:spPr>
              <a:xfrm rot="1413182">
                <a:off x="2584963" y="3200850"/>
                <a:ext cx="2040367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575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75" b="0" i="1" smtClean="0">
                              <a:latin typeface="Cambria Math" panose="02040503050406030204" pitchFamily="18" charset="0"/>
                            </a:rPr>
                            <m:t>𝑠h𝑒</m:t>
                          </m:r>
                        </m:sub>
                      </m:sSub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575" b="0" i="1" smtClean="0">
                              <a:latin typeface="Cambria Math" panose="02040503050406030204" pitchFamily="18" charset="0"/>
                            </a:rPr>
                            <m:t>𝑠h𝑒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A0E3B7-245B-5DDE-762E-E14090559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413182">
                <a:off x="2584963" y="3200850"/>
                <a:ext cx="2040367" cy="3396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897AC2-A3A1-CBB8-3EC2-6B30782C1B77}"/>
                  </a:ext>
                </a:extLst>
              </p:cNvPr>
              <p:cNvSpPr txBox="1"/>
              <p:nvPr/>
            </p:nvSpPr>
            <p:spPr>
              <a:xfrm rot="19631347">
                <a:off x="2578368" y="4282879"/>
                <a:ext cx="2096984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575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75" b="0" i="1" smtClean="0">
                              <a:latin typeface="Cambria Math" panose="02040503050406030204" pitchFamily="18" charset="0"/>
                            </a:rPr>
                            <m:t>𝑟𝑖𝑑𝑒</m:t>
                          </m:r>
                        </m:sub>
                      </m:sSub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575" b="0" i="1" smtClean="0">
                              <a:latin typeface="Cambria Math" panose="02040503050406030204" pitchFamily="18" charset="0"/>
                            </a:rPr>
                            <m:t>𝑟𝑖𝑑𝑒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897AC2-A3A1-CBB8-3EC2-6B30782C1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31347">
                <a:off x="2578368" y="4282879"/>
                <a:ext cx="2096984" cy="3396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E5F0549-CEF6-B076-817B-EBD3E6539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439498"/>
              </p:ext>
            </p:extLst>
          </p:nvPr>
        </p:nvGraphicFramePr>
        <p:xfrm>
          <a:off x="3200400" y="1517645"/>
          <a:ext cx="1851660" cy="92583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:a16="http://schemas.microsoft.com/office/drawing/2014/main" val="4253241636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4278168359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1775200123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058570661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635929464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1060927547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2648937507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865230097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2604712063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79722658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3.2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04826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2.9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3.6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6.1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16080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311445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582356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2.7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1.9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2.0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9996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F2080DF-4754-7DF4-659F-926D90019285}"/>
                  </a:ext>
                </a:extLst>
              </p:cNvPr>
              <p:cNvSpPr txBox="1"/>
              <p:nvPr/>
            </p:nvSpPr>
            <p:spPr>
              <a:xfrm>
                <a:off x="5088161" y="1876872"/>
                <a:ext cx="322524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13" i="1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F2080DF-4754-7DF4-659F-926D90019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161" y="1876872"/>
                <a:ext cx="322524" cy="2482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F9CA0AA-6476-E987-916E-02B7BA1786DD}"/>
                  </a:ext>
                </a:extLst>
              </p:cNvPr>
              <p:cNvSpPr txBox="1"/>
              <p:nvPr/>
            </p:nvSpPr>
            <p:spPr>
              <a:xfrm>
                <a:off x="3876598" y="1131956"/>
                <a:ext cx="2725361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575" i="1">
                          <a:latin typeface="Cambria Math" panose="02040503050406030204" pitchFamily="18" charset="0"/>
                        </a:rPr>
                        <m:t>              ×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75" b="0" i="1" smtClean="0">
                              <a:latin typeface="Cambria Math" panose="02040503050406030204" pitchFamily="18" charset="0"/>
                            </a:rPr>
                            <m:t>𝑟𝑖𝑑𝑒</m:t>
                          </m:r>
                        </m:sub>
                      </m:sSub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575" b="0" i="1" smtClean="0">
                              <a:latin typeface="Cambria Math" panose="02040503050406030204" pitchFamily="18" charset="0"/>
                            </a:rPr>
                            <m:t>𝑟𝑖𝑑𝑒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F9CA0AA-6476-E987-916E-02B7BA178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598" y="1131956"/>
                <a:ext cx="2725361" cy="339645"/>
              </a:xfrm>
              <a:prstGeom prst="rect">
                <a:avLst/>
              </a:prstGeom>
              <a:blipFill>
                <a:blip r:embed="rId5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AD45645D-4948-9FE8-87DD-E07E024DD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572368"/>
              </p:ext>
            </p:extLst>
          </p:nvPr>
        </p:nvGraphicFramePr>
        <p:xfrm>
          <a:off x="5883389" y="1518881"/>
          <a:ext cx="185166" cy="92583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:a16="http://schemas.microsoft.com/office/drawing/2014/main" val="425515912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43869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4459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56361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155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530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3198E80-A042-69FA-3E21-AE8FD965316C}"/>
                  </a:ext>
                </a:extLst>
              </p:cNvPr>
              <p:cNvSpPr txBox="1"/>
              <p:nvPr/>
            </p:nvSpPr>
            <p:spPr>
              <a:xfrm>
                <a:off x="5577279" y="1884480"/>
                <a:ext cx="327333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13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3198E80-A042-69FA-3E21-AE8FD9653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279" y="1884480"/>
                <a:ext cx="327333" cy="2482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6134A17-E443-56F0-8DC2-E4F63D886BA2}"/>
                  </a:ext>
                </a:extLst>
              </p:cNvPr>
              <p:cNvSpPr txBox="1"/>
              <p:nvPr/>
            </p:nvSpPr>
            <p:spPr>
              <a:xfrm>
                <a:off x="4573493" y="3345566"/>
                <a:ext cx="1137298" cy="374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013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13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013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13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13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13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013" b="0" i="1" smtClean="0">
                                  <a:latin typeface="Cambria Math" panose="02040503050406030204" pitchFamily="18" charset="0"/>
                                </a:rPr>
                                <m:t>𝑠h𝑒</m:t>
                              </m:r>
                            </m:sub>
                          </m:sSub>
                          <m:r>
                            <a:rPr lang="en-US" sz="1013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013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13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013" b="0" i="1" smtClean="0">
                                  <a:latin typeface="Cambria Math" panose="02040503050406030204" pitchFamily="18" charset="0"/>
                                </a:rPr>
                                <m:t>𝑟𝑖𝑑𝑒</m:t>
                              </m:r>
                            </m:sub>
                          </m:sSub>
                        </m:num>
                        <m:den>
                          <m:r>
                            <a:rPr lang="en-US" sz="1013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6134A17-E443-56F0-8DC2-E4F63D886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493" y="3345566"/>
                <a:ext cx="1137298" cy="3748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EFFF9498-694B-7AF8-2AA9-FA6A8DD78353}"/>
              </a:ext>
            </a:extLst>
          </p:cNvPr>
          <p:cNvGrpSpPr/>
          <p:nvPr/>
        </p:nvGrpSpPr>
        <p:grpSpPr>
          <a:xfrm>
            <a:off x="5422797" y="1479739"/>
            <a:ext cx="154305" cy="1337310"/>
            <a:chOff x="1800225" y="419100"/>
            <a:chExt cx="182880" cy="182880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B63D20D-BA8C-E6CA-B1D9-D8E7EED02A61}"/>
                </a:ext>
              </a:extLst>
            </p:cNvPr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137FDBF-F401-1A20-448D-0390688CEBB6}"/>
                </a:ext>
              </a:extLst>
            </p:cNvPr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CC61F01-8BDC-4431-1531-207529EE1990}"/>
                </a:ext>
              </a:extLst>
            </p:cNvPr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D60D5B3-4D77-0307-0DAD-F2D10690E9BB}"/>
                </a:ext>
              </a:extLst>
            </p:cNvPr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FBF6EC1-E1D8-F7D7-E4F2-5D14C0F1D5A7}"/>
                </a:ext>
              </a:extLst>
            </p:cNvPr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6FB5A12-2720-5A24-2118-FF77EFE7C6DB}"/>
                </a:ext>
              </a:extLst>
            </p:cNvPr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A00DF4C-4D40-157B-24E6-D7FAD223988F}"/>
                </a:ext>
              </a:extLst>
            </p:cNvPr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C62AD4A-6F77-EF75-6FC3-648B31AE8E1D}"/>
                </a:ext>
              </a:extLst>
            </p:cNvPr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7BDF5C8-6747-2205-1D3C-B5E5BF3E8399}"/>
                </a:ext>
              </a:extLst>
            </p:cNvPr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1942060-21C9-AB52-B9E5-309585BEE7FC}"/>
                </a:ext>
              </a:extLst>
            </p:cNvPr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A5FA2F7-0DC6-AB4E-756C-79FBDAEF1B80}"/>
              </a:ext>
            </a:extLst>
          </p:cNvPr>
          <p:cNvSpPr txBox="1"/>
          <p:nvPr/>
        </p:nvSpPr>
        <p:spPr>
          <a:xfrm>
            <a:off x="6228184" y="1562090"/>
            <a:ext cx="22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Embeding</a:t>
            </a:r>
            <a:r>
              <a:rPr lang="en-US" sz="1400" dirty="0"/>
              <a:t>(ride)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60CC3AA-E792-C8D5-F7E6-97A07630AEA6}"/>
              </a:ext>
            </a:extLst>
          </p:cNvPr>
          <p:cNvCxnSpPr>
            <a:cxnSpLocks/>
          </p:cNvCxnSpPr>
          <p:nvPr/>
        </p:nvCxnSpPr>
        <p:spPr bwMode="auto">
          <a:xfrm flipH="1">
            <a:off x="6064241" y="1715978"/>
            <a:ext cx="212946" cy="1754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31958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2502751" y="2190156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02752" y="3803226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449258" y="3211566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400479" y="2992542"/>
            <a:ext cx="154307" cy="1337310"/>
            <a:chOff x="1800225" y="419100"/>
            <a:chExt cx="182883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8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244132" y="1907245"/>
            <a:ext cx="90281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657056" y="2190159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57055" y="3209350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52338" y="3526049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57055" y="4022251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190641" y="2632481"/>
            <a:ext cx="1005403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4603562" y="2991859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603562" y="4013954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091824" y="2665923"/>
            <a:ext cx="1002197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91116" y="3497846"/>
            <a:ext cx="692818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one-hot</a:t>
            </a:r>
          </a:p>
          <a:p>
            <a:r>
              <a:rPr lang="en-US" sz="1013" dirty="0"/>
              <a:t>vector</a:t>
            </a: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C508544C-AD12-EA4B-A205-4BB1CECC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577"/>
            <a:ext cx="7467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CBOW (Continuous Bag of Words)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E0B5DF-4CA5-F7E9-E8BA-89691B4A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778CF-E6F7-5B5A-6E1A-396A20E5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4F728-FEAD-9C56-1789-5E8A881ED659}"/>
              </a:ext>
            </a:extLst>
          </p:cNvPr>
          <p:cNvSpPr txBox="1"/>
          <p:nvPr/>
        </p:nvSpPr>
        <p:spPr>
          <a:xfrm>
            <a:off x="2127937" y="2953227"/>
            <a:ext cx="41229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she</a:t>
            </a:r>
            <a:endParaRPr lang="en-US" sz="101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E9AF8-0EC0-36D6-7110-BF506CE89562}"/>
              </a:ext>
            </a:extLst>
          </p:cNvPr>
          <p:cNvSpPr txBox="1"/>
          <p:nvPr/>
        </p:nvSpPr>
        <p:spPr>
          <a:xfrm>
            <a:off x="2098641" y="4470438"/>
            <a:ext cx="42832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ride</a:t>
            </a:r>
            <a:endParaRPr lang="en-US" sz="1013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77981F-8D98-2160-4C5E-3FDD58F9ED36}"/>
                  </a:ext>
                </a:extLst>
              </p:cNvPr>
              <p:cNvSpPr txBox="1"/>
              <p:nvPr/>
            </p:nvSpPr>
            <p:spPr>
              <a:xfrm>
                <a:off x="6327973" y="4462546"/>
                <a:ext cx="530786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13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13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13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013" b="0" i="0" smtClean="0">
                            <a:latin typeface="Cambria Math" panose="02040503050406030204" pitchFamily="18" charset="0"/>
                          </a:rPr>
                          <m:t>bike</m:t>
                        </m:r>
                      </m:sub>
                    </m:sSub>
                    <m:r>
                      <a:rPr lang="en-US" sz="1013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13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77981F-8D98-2160-4C5E-3FDD58F9E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973" y="4462546"/>
                <a:ext cx="530786" cy="2482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4605A7E-83BC-04AD-C631-280B9DB56364}"/>
                  </a:ext>
                </a:extLst>
              </p:cNvPr>
              <p:cNvSpPr txBox="1"/>
              <p:nvPr/>
            </p:nvSpPr>
            <p:spPr>
              <a:xfrm>
                <a:off x="2510784" y="2695777"/>
                <a:ext cx="744819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4605A7E-83BC-04AD-C631-280B9DB56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784" y="2695777"/>
                <a:ext cx="744819" cy="3347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AD23BF7-E274-3455-2B39-A7D14A85C1DE}"/>
                  </a:ext>
                </a:extLst>
              </p:cNvPr>
              <p:cNvSpPr txBox="1"/>
              <p:nvPr/>
            </p:nvSpPr>
            <p:spPr>
              <a:xfrm>
                <a:off x="2526755" y="4145795"/>
                <a:ext cx="744819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AD23BF7-E274-3455-2B39-A7D14A85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755" y="4145795"/>
                <a:ext cx="744819" cy="3347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324A387F-C1C3-49AE-025A-AE0A45CCE771}"/>
              </a:ext>
            </a:extLst>
          </p:cNvPr>
          <p:cNvSpPr txBox="1"/>
          <p:nvPr/>
        </p:nvSpPr>
        <p:spPr>
          <a:xfrm>
            <a:off x="4248532" y="4228469"/>
            <a:ext cx="583814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F02840-DBB8-AFF7-7AC3-A242F4E34BDB}"/>
                  </a:ext>
                </a:extLst>
              </p:cNvPr>
              <p:cNvSpPr txBox="1"/>
              <p:nvPr/>
            </p:nvSpPr>
            <p:spPr>
              <a:xfrm>
                <a:off x="4522059" y="3448910"/>
                <a:ext cx="1465914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575" i="1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F02840-DBB8-AFF7-7AC3-A242F4E34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059" y="3448910"/>
                <a:ext cx="1465914" cy="3347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F1AAC2F8-8BBE-CA07-324F-BFBAF650C535}"/>
              </a:ext>
            </a:extLst>
          </p:cNvPr>
          <p:cNvSpPr txBox="1"/>
          <p:nvPr/>
        </p:nvSpPr>
        <p:spPr>
          <a:xfrm>
            <a:off x="6471163" y="4250405"/>
            <a:ext cx="5741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60B968-0364-A69E-4C3B-DD449E51F686}"/>
              </a:ext>
            </a:extLst>
          </p:cNvPr>
          <p:cNvSpPr txBox="1"/>
          <p:nvPr/>
        </p:nvSpPr>
        <p:spPr>
          <a:xfrm>
            <a:off x="3415866" y="4624865"/>
            <a:ext cx="227498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 will be the size of word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826E6B1-9470-9BA0-BF3A-6B52A2C32B3D}"/>
                  </a:ext>
                </a:extLst>
              </p:cNvPr>
              <p:cNvSpPr txBox="1"/>
              <p:nvPr/>
            </p:nvSpPr>
            <p:spPr>
              <a:xfrm>
                <a:off x="6556269" y="3180158"/>
                <a:ext cx="1656371" cy="334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826E6B1-9470-9BA0-BF3A-6B52A2C32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269" y="3180158"/>
                <a:ext cx="1656371" cy="334707"/>
              </a:xfrm>
              <a:prstGeom prst="rect">
                <a:avLst/>
              </a:prstGeom>
              <a:blipFill>
                <a:blip r:embed="rId6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268816E1-FD36-69EF-E032-9DDAD22AE575}"/>
              </a:ext>
            </a:extLst>
          </p:cNvPr>
          <p:cNvSpPr txBox="1"/>
          <p:nvPr/>
        </p:nvSpPr>
        <p:spPr>
          <a:xfrm>
            <a:off x="1974091" y="3388012"/>
            <a:ext cx="5741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C5C86F-BEE0-00AB-CE7B-A23F605AB25F}"/>
              </a:ext>
            </a:extLst>
          </p:cNvPr>
          <p:cNvSpPr txBox="1"/>
          <p:nvPr/>
        </p:nvSpPr>
        <p:spPr>
          <a:xfrm>
            <a:off x="1974091" y="4982655"/>
            <a:ext cx="5741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</p:spTree>
    <p:extLst>
      <p:ext uri="{BB962C8B-B14F-4D97-AF65-F5344CB8AC3E}">
        <p14:creationId xmlns:p14="http://schemas.microsoft.com/office/powerpoint/2010/main" val="2246144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2502751" y="2190156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02752" y="3803226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449258" y="3211566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400479" y="2992542"/>
            <a:ext cx="154307" cy="1337310"/>
            <a:chOff x="1800225" y="419100"/>
            <a:chExt cx="182883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8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244132" y="1907245"/>
            <a:ext cx="90281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657056" y="2190159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57055" y="3209350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52338" y="3526049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57055" y="4022251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190641" y="2632481"/>
            <a:ext cx="1005403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4603562" y="2991859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603562" y="4013954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091824" y="2665923"/>
            <a:ext cx="1002197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91116" y="3497846"/>
            <a:ext cx="692818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one-hot</a:t>
            </a:r>
          </a:p>
          <a:p>
            <a:r>
              <a:rPr lang="en-US" sz="1013" dirty="0"/>
              <a:t>vector</a:t>
            </a: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C508544C-AD12-EA4B-A205-4BB1CECC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577"/>
            <a:ext cx="7467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CBOW (Continuous Bag of Words)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E0B5DF-4CA5-F7E9-E8BA-89691B4A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778CF-E6F7-5B5A-6E1A-396A20E5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17</a:t>
            </a:fld>
            <a:endParaRPr lang="en-GB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4F728-FEAD-9C56-1789-5E8A881ED659}"/>
              </a:ext>
            </a:extLst>
          </p:cNvPr>
          <p:cNvSpPr txBox="1"/>
          <p:nvPr/>
        </p:nvSpPr>
        <p:spPr>
          <a:xfrm>
            <a:off x="2127937" y="2953227"/>
            <a:ext cx="41229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she</a:t>
            </a:r>
            <a:endParaRPr lang="en-US" sz="101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E9AF8-0EC0-36D6-7110-BF506CE89562}"/>
              </a:ext>
            </a:extLst>
          </p:cNvPr>
          <p:cNvSpPr txBox="1"/>
          <p:nvPr/>
        </p:nvSpPr>
        <p:spPr>
          <a:xfrm>
            <a:off x="2098641" y="4470438"/>
            <a:ext cx="42832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ride</a:t>
            </a:r>
            <a:endParaRPr lang="en-US" sz="1013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77981F-8D98-2160-4C5E-3FDD58F9ED36}"/>
                  </a:ext>
                </a:extLst>
              </p:cNvPr>
              <p:cNvSpPr txBox="1"/>
              <p:nvPr/>
            </p:nvSpPr>
            <p:spPr>
              <a:xfrm>
                <a:off x="6287947" y="4520884"/>
                <a:ext cx="533672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13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13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13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013" b="0" i="0" smtClean="0">
                            <a:latin typeface="Cambria Math" panose="02040503050406030204" pitchFamily="18" charset="0"/>
                          </a:rPr>
                          <m:t>bi</m:t>
                        </m:r>
                        <m:r>
                          <a:rPr lang="en-US" sz="1013" b="0" i="1" smtClean="0">
                            <a:latin typeface="Cambria Math" panose="02040503050406030204" pitchFamily="18" charset="0"/>
                          </a:rPr>
                          <m:t>𝑘𝑒</m:t>
                        </m:r>
                      </m:sub>
                    </m:sSub>
                    <m:r>
                      <a:rPr lang="en-US" sz="1013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13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77981F-8D98-2160-4C5E-3FDD58F9E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947" y="4520884"/>
                <a:ext cx="533672" cy="2482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4605A7E-83BC-04AD-C631-280B9DB56364}"/>
                  </a:ext>
                </a:extLst>
              </p:cNvPr>
              <p:cNvSpPr txBox="1"/>
              <p:nvPr/>
            </p:nvSpPr>
            <p:spPr>
              <a:xfrm>
                <a:off x="2871127" y="2839648"/>
                <a:ext cx="744819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4605A7E-83BC-04AD-C631-280B9DB56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127" y="2839648"/>
                <a:ext cx="744819" cy="3347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AD23BF7-E274-3455-2B39-A7D14A85C1DE}"/>
                  </a:ext>
                </a:extLst>
              </p:cNvPr>
              <p:cNvSpPr txBox="1"/>
              <p:nvPr/>
            </p:nvSpPr>
            <p:spPr>
              <a:xfrm>
                <a:off x="2828142" y="4022251"/>
                <a:ext cx="744819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AD23BF7-E274-3455-2B39-A7D14A85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142" y="4022251"/>
                <a:ext cx="744819" cy="3347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324A387F-C1C3-49AE-025A-AE0A45CCE771}"/>
              </a:ext>
            </a:extLst>
          </p:cNvPr>
          <p:cNvSpPr txBox="1"/>
          <p:nvPr/>
        </p:nvSpPr>
        <p:spPr>
          <a:xfrm>
            <a:off x="4248532" y="4228469"/>
            <a:ext cx="583814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N-dim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AAC2F8-8BBE-CA07-324F-BFBAF650C535}"/>
              </a:ext>
            </a:extLst>
          </p:cNvPr>
          <p:cNvSpPr txBox="1"/>
          <p:nvPr/>
        </p:nvSpPr>
        <p:spPr>
          <a:xfrm>
            <a:off x="6471163" y="4250405"/>
            <a:ext cx="5741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60B968-0364-A69E-4C3B-DD449E51F686}"/>
              </a:ext>
            </a:extLst>
          </p:cNvPr>
          <p:cNvSpPr txBox="1"/>
          <p:nvPr/>
        </p:nvSpPr>
        <p:spPr>
          <a:xfrm>
            <a:off x="3415866" y="4624865"/>
            <a:ext cx="227498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 will be the size of word vector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8816E1-FD36-69EF-E032-9DDAD22AE575}"/>
              </a:ext>
            </a:extLst>
          </p:cNvPr>
          <p:cNvSpPr txBox="1"/>
          <p:nvPr/>
        </p:nvSpPr>
        <p:spPr>
          <a:xfrm>
            <a:off x="1974091" y="3388012"/>
            <a:ext cx="5741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C5C86F-BEE0-00AB-CE7B-A23F605AB25F}"/>
              </a:ext>
            </a:extLst>
          </p:cNvPr>
          <p:cNvSpPr txBox="1"/>
          <p:nvPr/>
        </p:nvSpPr>
        <p:spPr>
          <a:xfrm>
            <a:off x="1974091" y="4982655"/>
            <a:ext cx="5741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1163F9-DECA-A744-3E49-FBB84267C156}"/>
                  </a:ext>
                </a:extLst>
              </p:cNvPr>
              <p:cNvSpPr txBox="1"/>
              <p:nvPr/>
            </p:nvSpPr>
            <p:spPr>
              <a:xfrm>
                <a:off x="4619368" y="3289064"/>
                <a:ext cx="1683666" cy="5770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575" i="1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575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1163F9-DECA-A744-3E49-FBB84267C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368" y="3289064"/>
                <a:ext cx="1683666" cy="577081"/>
              </a:xfrm>
              <a:prstGeom prst="rect">
                <a:avLst/>
              </a:prstGeom>
              <a:blipFill>
                <a:blip r:embed="rId5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4921B64-DB1E-EA20-D73B-BDD7CC22F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322546"/>
              </p:ext>
            </p:extLst>
          </p:nvPr>
        </p:nvGraphicFramePr>
        <p:xfrm>
          <a:off x="7871167" y="2695777"/>
          <a:ext cx="185166" cy="1851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:a16="http://schemas.microsoft.com/office/drawing/2014/main" val="425515912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43869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4459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56361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155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5309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09931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42787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0000"/>
                          </a:solidFill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25921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32886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1323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446B00-0CA6-712C-3B38-6C716ADE1D5E}"/>
                  </a:ext>
                </a:extLst>
              </p:cNvPr>
              <p:cNvSpPr txBox="1"/>
              <p:nvPr/>
            </p:nvSpPr>
            <p:spPr>
              <a:xfrm>
                <a:off x="6110659" y="2238307"/>
                <a:ext cx="2236703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13" dirty="0">
                    <a:solidFill>
                      <a:srgbClr val="FF0000"/>
                    </a:solidFill>
                  </a:rPr>
                  <a:t>We would prefer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013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13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013" dirty="0">
                    <a:solidFill>
                      <a:srgbClr val="FF0000"/>
                    </a:solidFill>
                  </a:rPr>
                  <a:t> close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13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13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13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013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𝑏𝑖𝑘𝑒</m:t>
                        </m:r>
                      </m:sub>
                    </m:sSub>
                  </m:oMath>
                </a14:m>
                <a:endParaRPr lang="en-US" sz="1013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446B00-0CA6-712C-3B38-6C716ADE1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659" y="2238307"/>
                <a:ext cx="2236703" cy="248209"/>
              </a:xfrm>
              <a:prstGeom prst="rect">
                <a:avLst/>
              </a:prstGeom>
              <a:blipFill>
                <a:blip r:embed="rId6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D6F55DD-A9F2-FEEB-E01C-3FE96F2B2A2F}"/>
                  </a:ext>
                </a:extLst>
              </p:cNvPr>
              <p:cNvSpPr txBox="1"/>
              <p:nvPr/>
            </p:nvSpPr>
            <p:spPr>
              <a:xfrm>
                <a:off x="7812360" y="4734446"/>
                <a:ext cx="329577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013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13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013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13" dirty="0"/>
                  <a:t>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D6F55DD-A9F2-FEEB-E01C-3FE96F2B2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360" y="4734446"/>
                <a:ext cx="329577" cy="2482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7220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6F6DEE20-B69A-7B5F-D284-87B1CF00E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7813"/>
            <a:ext cx="8569325" cy="703262"/>
          </a:xfrm>
        </p:spPr>
        <p:txBody>
          <a:bodyPr/>
          <a:lstStyle/>
          <a:p>
            <a:r>
              <a:rPr lang="ro-RO" altLang="en-US"/>
              <a:t>Cursul următor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E28D-7739-8D9D-6228-F67B69725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125538"/>
            <a:ext cx="8640763" cy="55435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endParaRPr lang="ro-RO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ro-RO" sz="2000" dirty="0">
                <a:solidFill>
                  <a:schemeClr val="bg1">
                    <a:lumMod val="75000"/>
                  </a:schemeClr>
                </a:solidFill>
              </a:rPr>
              <a:t>Scurtă introducere în Inteligenţa Artificială (IA)</a:t>
            </a:r>
            <a:endParaRPr lang="en-GB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endParaRPr lang="en-GB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en-US" sz="2000" dirty="0" err="1"/>
              <a:t>Sisteme</a:t>
            </a:r>
            <a:r>
              <a:rPr lang="en-US" sz="2000" dirty="0"/>
              <a:t> </a:t>
            </a:r>
            <a:r>
              <a:rPr lang="en-US" sz="2000" dirty="0" err="1"/>
              <a:t>inteligente</a:t>
            </a:r>
            <a:r>
              <a:rPr lang="en-US" sz="2000" dirty="0"/>
              <a:t> </a:t>
            </a:r>
            <a:endParaRPr lang="ro-RO" sz="20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b="1" dirty="0"/>
              <a:t>Sisteme care învaţă singure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Arbori de decizie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/>
              <a:t>Reţele neuronale artificiale</a:t>
            </a:r>
            <a:r>
              <a:rPr lang="en-US" sz="1050" dirty="0"/>
              <a:t> - transformers</a:t>
            </a:r>
            <a:endParaRPr lang="ro-RO" sz="1050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Maşini cu suport vectorial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Algoritmi evolutivi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steme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bazate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pe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reguli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Sisteme hibride </a:t>
            </a: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ro-RO" sz="2000" dirty="0">
                <a:solidFill>
                  <a:schemeClr val="bg1">
                    <a:lumMod val="75000"/>
                  </a:schemeClr>
                </a:solidFill>
              </a:rPr>
              <a:t>Rezolvarea problemelor prin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85000"/>
                  </a:schemeClr>
                </a:solidFill>
              </a:rPr>
              <a:t>Definirea problemelor de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85000"/>
                  </a:schemeClr>
                </a:solidFill>
              </a:rPr>
              <a:t>Strategii de căutare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neinformate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informate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locale (Hill Climbing, Simulated Annealing, Tabu Search</a:t>
            </a: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, Algoritmi evolutivi, PSO, ACO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vi-VN" sz="1200" dirty="0">
                <a:solidFill>
                  <a:schemeClr val="bg1">
                    <a:lumMod val="75000"/>
                  </a:schemeClr>
                </a:solidFill>
              </a:rPr>
              <a:t>adversială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marL="457200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2022117B-E7DD-9C67-75C2-8584798E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FF0498-BD28-42A6-BAC5-C9A45232AD0E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GB" altLang="en-US" sz="1000"/>
          </a:p>
        </p:txBody>
      </p:sp>
      <p:sp>
        <p:nvSpPr>
          <p:cNvPr id="25605" name="Footer Placeholder 5">
            <a:extLst>
              <a:ext uri="{FF2B5EF4-FFF2-40B4-BE49-F238E27FC236}">
                <a16:creationId xmlns:a16="http://schemas.microsoft.com/office/drawing/2014/main" id="{20150219-3D5C-F54A-87F9-97113734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vi-VN" altLang="en-US" sz="1000"/>
              <a:t>Inteligenţă artificială - generative AI</a:t>
            </a:r>
            <a:endParaRPr lang="en-GB" alt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3">
            <a:extLst>
              <a:ext uri="{FF2B5EF4-FFF2-40B4-BE49-F238E27FC236}">
                <a16:creationId xmlns:a16="http://schemas.microsoft.com/office/drawing/2014/main" id="{5479FD9F-191C-9475-3141-3FB6EF047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7813"/>
            <a:ext cx="8569325" cy="703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8F1AEAD0-92B1-9D76-8B96-10EB6EEEB3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640763" cy="5543550"/>
          </a:xfrm>
        </p:spPr>
        <p:txBody>
          <a:bodyPr>
            <a:normAutofit/>
          </a:bodyPr>
          <a:lstStyle/>
          <a:p>
            <a:r>
              <a:rPr lang="ro-RO" altLang="en-US" dirty="0"/>
              <a:t>Informaţiile prezentate au fost colectate din diferite surse de pe internet, precum şi din cursurile de inteligenţă artificială ţinute în anii anteriori de către:</a:t>
            </a:r>
          </a:p>
          <a:p>
            <a:pPr lvl="1"/>
            <a:endParaRPr lang="ro-RO" altLang="en-US" dirty="0"/>
          </a:p>
          <a:p>
            <a:pPr lvl="1"/>
            <a:r>
              <a:rPr lang="ro-RO" altLang="en-US" sz="1800" dirty="0"/>
              <a:t>Conf. Dr. Mihai Oltean – </a:t>
            </a:r>
            <a:r>
              <a:rPr lang="ro-RO" altLang="en-US" sz="1800" dirty="0">
                <a:hlinkClick r:id="rId2"/>
              </a:rPr>
              <a:t>www.cs.ubbcluj.ro/</a:t>
            </a:r>
            <a:r>
              <a:rPr lang="en-GB" altLang="en-US" sz="1800" dirty="0">
                <a:hlinkClick r:id="rId2"/>
              </a:rPr>
              <a:t>~</a:t>
            </a:r>
            <a:r>
              <a:rPr lang="en-GB" altLang="en-US" sz="1800" dirty="0" err="1">
                <a:hlinkClick r:id="rId2"/>
              </a:rPr>
              <a:t>moltean</a:t>
            </a:r>
            <a:endParaRPr lang="en-GB" altLang="en-US" sz="1800" dirty="0"/>
          </a:p>
          <a:p>
            <a:pPr lvl="1"/>
            <a:endParaRPr lang="ro-RO" altLang="en-US" sz="1800" dirty="0"/>
          </a:p>
          <a:p>
            <a:pPr lvl="1"/>
            <a:r>
              <a:rPr lang="en-GB" altLang="en-US" sz="1800" dirty="0"/>
              <a:t>Lect. </a:t>
            </a:r>
            <a:r>
              <a:rPr lang="en-GB" altLang="en-US" sz="1800" dirty="0" err="1"/>
              <a:t>Dr.</a:t>
            </a:r>
            <a:r>
              <a:rPr lang="en-GB" altLang="en-US" sz="1800" dirty="0"/>
              <a:t> Crina Gro</a:t>
            </a:r>
            <a:r>
              <a:rPr lang="ro-RO" altLang="en-US" sz="1800" dirty="0"/>
              <a:t>şan - </a:t>
            </a:r>
            <a:r>
              <a:rPr lang="ro-RO" altLang="en-US" sz="1800" dirty="0">
                <a:hlinkClick r:id="rId3"/>
              </a:rPr>
              <a:t>www.cs.ubbcluj.ro/</a:t>
            </a:r>
            <a:r>
              <a:rPr lang="en-GB" altLang="en-US" sz="1800" dirty="0">
                <a:hlinkClick r:id="rId3"/>
              </a:rPr>
              <a:t>~</a:t>
            </a:r>
            <a:r>
              <a:rPr lang="ro-RO" altLang="en-US" sz="1800" dirty="0">
                <a:hlinkClick r:id="rId3"/>
              </a:rPr>
              <a:t>cgrosan</a:t>
            </a:r>
            <a:endParaRPr lang="ro-RO" altLang="en-US" sz="1800" dirty="0"/>
          </a:p>
          <a:p>
            <a:pPr lvl="1"/>
            <a:endParaRPr lang="ro-RO" altLang="en-US" sz="1800" dirty="0"/>
          </a:p>
          <a:p>
            <a:pPr lvl="1"/>
            <a:r>
              <a:rPr lang="ro-RO" altLang="en-US" sz="1800" dirty="0"/>
              <a:t>Prof. Dr. Horia F. Pop - </a:t>
            </a:r>
            <a:r>
              <a:rPr lang="ro-RO" altLang="en-US" sz="1800" dirty="0">
                <a:hlinkClick r:id="rId4"/>
              </a:rPr>
              <a:t>www.cs.ubbcluj.ro/</a:t>
            </a:r>
            <a:r>
              <a:rPr lang="en-GB" altLang="en-US" sz="1800" dirty="0">
                <a:hlinkClick r:id="rId4"/>
              </a:rPr>
              <a:t>~</a:t>
            </a:r>
            <a:r>
              <a:rPr lang="ro-RO" altLang="en-US" sz="1800" dirty="0">
                <a:hlinkClick r:id="rId4"/>
              </a:rPr>
              <a:t>hfpop</a:t>
            </a:r>
            <a:endParaRPr lang="en-US" altLang="en-US" sz="1800" dirty="0"/>
          </a:p>
          <a:p>
            <a:pPr lvl="1"/>
            <a:endParaRPr lang="en-US" altLang="en-US" sz="1800" dirty="0"/>
          </a:p>
          <a:p>
            <a:pPr lvl="1"/>
            <a:r>
              <a:rPr lang="en-US" altLang="en-US" sz="1800" dirty="0"/>
              <a:t>Prof. Dr. Radu Ionescu -  </a:t>
            </a:r>
            <a:r>
              <a:rPr lang="ro-RO" altLang="en-US" sz="1800" dirty="0">
                <a:hlinkClick r:id="rId5"/>
              </a:rPr>
              <a:t>https://raduionescu.herokuapp.com/</a:t>
            </a:r>
            <a:r>
              <a:rPr lang="en-US" altLang="en-US" sz="1800" dirty="0"/>
              <a:t> </a:t>
            </a: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B143E303-C561-2DA2-34F7-22F7366B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3CF286-8F82-4944-82E7-A0F8EEB28DD3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GB" altLang="en-US" sz="1000"/>
          </a:p>
        </p:txBody>
      </p:sp>
      <p:sp>
        <p:nvSpPr>
          <p:cNvPr id="27653" name="Footer Placeholder 5">
            <a:extLst>
              <a:ext uri="{FF2B5EF4-FFF2-40B4-BE49-F238E27FC236}">
                <a16:creationId xmlns:a16="http://schemas.microsoft.com/office/drawing/2014/main" id="{D598DB61-6B0E-22A8-DE13-A507EDA86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vi-VN" altLang="en-US" sz="1000"/>
              <a:t>Inteligenţă artificială - generative AI</a:t>
            </a:r>
            <a:endParaRPr lang="en-GB" alt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37047</TotalTime>
  <Words>1961</Words>
  <Application>Microsoft Office PowerPoint</Application>
  <PresentationFormat>On-screen Show (4:3)</PresentationFormat>
  <Paragraphs>731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-apple-system</vt:lpstr>
      <vt:lpstr>Arial</vt:lpstr>
      <vt:lpstr>Calibri</vt:lpstr>
      <vt:lpstr>Calibri (Body)</vt:lpstr>
      <vt:lpstr>Cambria Math</vt:lpstr>
      <vt:lpstr>Garamond</vt:lpstr>
      <vt:lpstr>Roboto</vt:lpstr>
      <vt:lpstr>Times New Roman</vt:lpstr>
      <vt:lpstr>Verdana</vt:lpstr>
      <vt:lpstr>Wingdings</vt:lpstr>
      <vt:lpstr>Level</vt:lpstr>
      <vt:lpstr>INTELIGENŢĂ ARTIFICIALĂ</vt:lpstr>
      <vt:lpstr>Sumar</vt:lpstr>
      <vt:lpstr>Materiale de citit şi legături utile</vt:lpstr>
      <vt:lpstr>De ce reprezentari vectoriale ale intelesului unui cuvant/text?</vt:lpstr>
      <vt:lpstr>Intuitia din spatele similaritatii</vt:lpstr>
      <vt:lpstr>Diferite reprezentari vectoriale pentru text</vt:lpstr>
      <vt:lpstr>Vectori rari vs. densi</vt:lpstr>
      <vt:lpstr>Modele de predictie (invatare) a reprezentarilor</vt:lpstr>
      <vt:lpstr>Modele de predictive (invatare) a reprezentarilor</vt:lpstr>
      <vt:lpstr>Invatare supervizata fara etichetare manuala de date</vt:lpstr>
      <vt:lpstr>Arhitecturi</vt:lpstr>
      <vt:lpstr>CBOW (Continuous Bag of Words)</vt:lpstr>
      <vt:lpstr>CBOW (Continuous Bag of Words)</vt:lpstr>
      <vt:lpstr>CBOW (Continuous Bag of Words)</vt:lpstr>
      <vt:lpstr>CBOW (Continuous Bag of Words)</vt:lpstr>
      <vt:lpstr>CBOW (Continuous Bag of Words)</vt:lpstr>
      <vt:lpstr>CBOW (Continuous Bag of Words)</vt:lpstr>
      <vt:lpstr>Cursul următor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Laura</dc:creator>
  <cp:lastModifiedBy>LAURA SILVIA DIOSAN</cp:lastModifiedBy>
  <cp:revision>1287</cp:revision>
  <dcterms:created xsi:type="dcterms:W3CDTF">2010-06-29T05:35:38Z</dcterms:created>
  <dcterms:modified xsi:type="dcterms:W3CDTF">2024-04-18T16:55:25Z</dcterms:modified>
</cp:coreProperties>
</file>