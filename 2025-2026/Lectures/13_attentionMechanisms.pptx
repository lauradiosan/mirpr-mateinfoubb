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notesMasterIdLst>
    <p:notesMasterId r:id="rId14"/>
  </p:notesMasterIdLst>
  <p:sldIdLst>
    <p:sldId id="668" r:id="rId2"/>
    <p:sldId id="682" r:id="rId3"/>
    <p:sldId id="683" r:id="rId4"/>
    <p:sldId id="685" r:id="rId5"/>
    <p:sldId id="686" r:id="rId6"/>
    <p:sldId id="687" r:id="rId7"/>
    <p:sldId id="688" r:id="rId8"/>
    <p:sldId id="689" r:id="rId9"/>
    <p:sldId id="679" r:id="rId10"/>
    <p:sldId id="680" r:id="rId11"/>
    <p:sldId id="684" r:id="rId12"/>
    <p:sldId id="681" r:id="rId13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33CC33"/>
    <a:srgbClr val="00FF00"/>
    <a:srgbClr val="90D75B"/>
    <a:srgbClr val="A50021"/>
    <a:srgbClr val="0099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8" autoAdjust="0"/>
    <p:restoredTop sz="95006" autoAdjust="0"/>
  </p:normalViewPr>
  <p:slideViewPr>
    <p:cSldViewPr>
      <p:cViewPr>
        <p:scale>
          <a:sx n="56" d="100"/>
          <a:sy n="56" d="100"/>
        </p:scale>
        <p:origin x="178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FCFC7577-8C2B-4F20-9E4F-649F39F2FD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FA572CCB-E4B1-4091-9043-83D5638B790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14D1235-756C-47A7-BB5F-66337972D2D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8341" name="Rectangle 5">
            <a:extLst>
              <a:ext uri="{FF2B5EF4-FFF2-40B4-BE49-F238E27FC236}">
                <a16:creationId xmlns:a16="http://schemas.microsoft.com/office/drawing/2014/main" id="{1A1E5470-D616-458F-8B2E-60332821BC2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98342" name="Rectangle 6">
            <a:extLst>
              <a:ext uri="{FF2B5EF4-FFF2-40B4-BE49-F238E27FC236}">
                <a16:creationId xmlns:a16="http://schemas.microsoft.com/office/drawing/2014/main" id="{2C81F070-2E8F-493E-B6F7-979C3620F7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98343" name="Rectangle 7">
            <a:extLst>
              <a:ext uri="{FF2B5EF4-FFF2-40B4-BE49-F238E27FC236}">
                <a16:creationId xmlns:a16="http://schemas.microsoft.com/office/drawing/2014/main" id="{954F0972-BEBA-4E36-A7D6-C0621F6C7E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87B7325-7B84-46F3-9B58-0BB92B985D2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49DDC662-3D3A-48F2-B677-747539F5B7FF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379913"/>
            <a:ext cx="8610600" cy="201612"/>
            <a:chOff x="144" y="1680"/>
            <a:chExt cx="5424" cy="144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223A671D-CC86-4162-9803-5AE8F1C1F7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8889B4A9-931E-403D-97A7-ECD58CDAE2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90D75B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0FB5520C-BF4C-446D-AA70-025EC6F99D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76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3463925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797425"/>
            <a:ext cx="6400800" cy="6826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C221B1-98A4-4B53-9BCA-0C931DB58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7A8774E-41B9-40CC-B9D3-45E53648A7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60D9803-2C5A-4581-BB25-4F7189800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C471F-B161-4F03-8E33-75E527FC7F4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202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607900" cy="84072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0678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4CF648-F1A8-4A63-A0B1-05EF2D00B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1656C2-CC35-4BBC-933E-FDBEE1C61B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B55AEA-E39A-4B6D-A441-C9F93B8CAC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C1B55-2A6F-48B5-A782-0E150E6C624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8023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265D9-B30C-4C12-8490-8B0C1C63E8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FD80F2-A8F4-4810-AC2A-0FDB230BE8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4D547-8904-46AE-AE68-453F7CF993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F949A-2DE5-42D3-B10A-2F04E4D2C27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2874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A06BD09-6DBE-463C-83CE-CE8DC4CB82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8E78EB-8B7F-4FC6-A41A-61B2EF8DF7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57D2F17-90B9-416A-8340-B274A8C0D1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96E58-7F21-45A2-B6EF-75E2BEBDFCF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8165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FF103D-3D9F-4563-B348-6FA6558A9B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000E8D-5152-4772-9DE5-81AB60DA18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E9DA128-CB0F-45C1-8288-0C2F0BDC60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CB671-A34B-4D0A-A9F4-F6A75BFDAB9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950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05A59BD-FDE8-4637-9EDF-D3F0D4E6ED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EBF82DA-0904-4476-AABF-3A5BC95DFA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2A349C-2612-45C5-AC3F-D6D1B1DCAF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95826-218D-48EB-AFCA-357D00B6B2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2282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0C2284-9968-4720-A243-B5C7601DE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65084E-1DEE-451C-802A-032F63F329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56E731-F51C-478A-A003-DD5F9A932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3BABF-83DC-493C-8EDF-8BC966F6562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874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373964-03BF-4C9D-9F88-5AA0E8A304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6DEAA-A8AE-4DF0-9DE3-AEB618B3DE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3BE8FD-C0EF-4BBA-A9F3-782646D34A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71C77-C792-4A2F-B08B-74EABB8881A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50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2A1584-C84D-438C-A020-56CB6C7B26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F369E5-201D-410C-88A3-D4D85C3D1C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7F0674-A7EE-489F-ADD3-DDA98950A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08D0C-F2AC-4F33-90BD-22C80731C43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2337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868BB8-C3A5-4BDC-8C42-CDCA71C482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03702B-9898-459A-AE01-7805C32EA9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7964A6-9868-4C53-A2A2-0B3996ED30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67B6F-3787-45BE-9CF3-6ADFCB3A46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1325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417E3C7-BE43-406D-861F-1A2707FE94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149B35D-E05B-437D-B77C-A5DD57279D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F5800C6-4D3C-47D1-B9CF-B0D80DFA40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8A279-A43A-4895-BB91-272F2DC6B3B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1137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9FA765-7D99-4102-BDB4-11560A5CB5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6F8107-3FC9-4D76-B01B-7D591FC152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73778E-D9FF-49DD-8913-2B15644F49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DE042-51B7-4A11-A31A-0C1B29C1269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4276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094BF6-D39E-49EA-9B39-0D444E0E67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F49BD2-7782-42AD-A1E8-EA934C63A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AF1D66-FD69-42CF-8AF0-6A9B6D2894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06CA8-2AF1-4599-ABD5-33011F5A6FC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4261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3B0132F-67D0-44BC-ABBA-1EAC39DB7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FDCD68-1417-49D4-89B3-27D9E59B9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75108" name="Rectangle 4">
            <a:extLst>
              <a:ext uri="{FF2B5EF4-FFF2-40B4-BE49-F238E27FC236}">
                <a16:creationId xmlns:a16="http://schemas.microsoft.com/office/drawing/2014/main" id="{75A2E5F8-5B21-468C-83C6-25F3882DE3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r>
              <a:rPr lang="en-US"/>
              <a:t>2019</a:t>
            </a:r>
            <a:endParaRPr lang="en-GB"/>
          </a:p>
        </p:txBody>
      </p:sp>
      <p:sp>
        <p:nvSpPr>
          <p:cNvPr id="175109" name="Rectangle 5">
            <a:extLst>
              <a:ext uri="{FF2B5EF4-FFF2-40B4-BE49-F238E27FC236}">
                <a16:creationId xmlns:a16="http://schemas.microsoft.com/office/drawing/2014/main" id="{7C4AC748-37EA-4471-8583-F1C9133F69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en-GB"/>
              <a:t>MIRPR - ANN</a:t>
            </a:r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3A0D0620-46EE-4812-83AB-781E879013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5BDB64BA-8582-4D2B-8504-FC0049DFA4A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95BA2AF-4B60-4388-A1F5-ADC4E7D7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8A3F2369-3BCC-457F-A2DE-1FE526FDC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7E64EC43-DAA2-493B-A11D-F136558A4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0D75B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6DA68797-9948-402A-AC5A-7ADC927FB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9966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290" r:id="rId3"/>
    <p:sldLayoutId id="2147484291" r:id="rId4"/>
    <p:sldLayoutId id="2147484292" r:id="rId5"/>
    <p:sldLayoutId id="2147484293" r:id="rId6"/>
    <p:sldLayoutId id="2147484294" r:id="rId7"/>
    <p:sldLayoutId id="2147484295" r:id="rId8"/>
    <p:sldLayoutId id="2147484296" r:id="rId9"/>
    <p:sldLayoutId id="2147484297" r:id="rId10"/>
    <p:sldLayoutId id="2147484298" r:id="rId11"/>
    <p:sldLayoutId id="2147484299" r:id="rId12"/>
    <p:sldLayoutId id="2147484300" r:id="rId13"/>
    <p:sldLayoutId id="2147484301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3C448D5-DAAF-4090-AFA7-8E9CE3FF45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altLang="en-US" sz="4800"/>
              <a:t>METODE INTELIGENTE DE </a:t>
            </a:r>
            <a:r>
              <a:rPr lang="ro-RO" altLang="en-US" sz="4800"/>
              <a:t>REZOLVARE </a:t>
            </a:r>
            <a:br>
              <a:rPr lang="ro-RO" altLang="en-US" sz="4800"/>
            </a:br>
            <a:r>
              <a:rPr lang="ro-RO" altLang="en-US" sz="4800"/>
              <a:t>A PROBLEMELOR REALE</a:t>
            </a:r>
            <a:endParaRPr lang="en-GB" altLang="en-US" sz="480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C86E74A-ABC1-4C10-B685-98F279C567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altLang="en-US" sz="2100" dirty="0"/>
              <a:t>Laura Dioşan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/>
              <a:t>Attention </a:t>
            </a:r>
            <a:endParaRPr lang="en-GB" altLang="en-US" sz="2100" dirty="0"/>
          </a:p>
        </p:txBody>
      </p:sp>
      <p:sp>
        <p:nvSpPr>
          <p:cNvPr id="5124" name="Slide Number Placeholder 4">
            <a:extLst>
              <a:ext uri="{FF2B5EF4-FFF2-40B4-BE49-F238E27FC236}">
                <a16:creationId xmlns:a16="http://schemas.microsoft.com/office/drawing/2014/main" id="{348944E5-7A92-47D1-923A-6091EB7B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61161B-E2A6-405D-AE65-76774C84443A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GB" altLang="en-US" sz="1000"/>
          </a:p>
        </p:txBody>
      </p:sp>
      <p:sp>
        <p:nvSpPr>
          <p:cNvPr id="5125" name="TextBox 3">
            <a:extLst>
              <a:ext uri="{FF2B5EF4-FFF2-40B4-BE49-F238E27FC236}">
                <a16:creationId xmlns:a16="http://schemas.microsoft.com/office/drawing/2014/main" id="{C0510AC5-EAF0-4965-B09C-1F25C8C2F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643563"/>
            <a:ext cx="8072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Facultatea de </a:t>
            </a:r>
            <a:r>
              <a:rPr lang="en-US" altLang="en-US" sz="1800" dirty="0" err="1"/>
              <a:t>Matematic</a:t>
            </a:r>
            <a:r>
              <a:rPr lang="ro-RO" altLang="en-US" sz="1800" dirty="0"/>
              <a:t>ă și Informatică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o-RO" altLang="en-US" sz="1800" dirty="0"/>
              <a:t>Universitatea Babeș-Bolyai</a:t>
            </a:r>
            <a:endParaRPr lang="en-GB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C025-EC59-AE32-04FB-BDB24FFF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64AEA-7129-2919-5CBF-57C7E0C5C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attention mechanisms matter?</a:t>
            </a:r>
          </a:p>
          <a:p>
            <a:pPr lvl="1"/>
            <a:r>
              <a:rPr lang="en-US" dirty="0"/>
              <a:t>Overcome limitations of fixed-size context in RNNs.</a:t>
            </a:r>
          </a:p>
          <a:p>
            <a:pPr lvl="1"/>
            <a:r>
              <a:rPr lang="en-US" dirty="0"/>
              <a:t>Enable models to focus on relevant parts of input.</a:t>
            </a:r>
          </a:p>
          <a:p>
            <a:pPr lvl="1"/>
            <a:r>
              <a:rPr lang="en-US" dirty="0"/>
              <a:t>Critical for Transformers, which dominate NLP and vision.</a:t>
            </a:r>
          </a:p>
        </p:txBody>
      </p:sp>
    </p:spTree>
    <p:extLst>
      <p:ext uri="{BB962C8B-B14F-4D97-AF65-F5344CB8AC3E}">
        <p14:creationId xmlns:p14="http://schemas.microsoft.com/office/powerpoint/2010/main" val="289918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56D6-BBB6-3DED-F34E-ECE33968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4F00C-305F-9D6F-4D81-B46AD3342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  <a:p>
            <a:pPr lvl="1"/>
            <a:r>
              <a:rPr lang="en-US" dirty="0"/>
              <a:t>A method to compute a weighted combination of input features based on relevance.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14336-B713-1F7E-BD90-91B4B1A24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86" y="3171789"/>
            <a:ext cx="3953427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2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D62E-1B6C-4448-3573-E602E062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63D0-A713-C02C-F252-A39800532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Softness of the attention</a:t>
            </a:r>
          </a:p>
          <a:p>
            <a:pPr lvl="1"/>
            <a:r>
              <a:rPr lang="en-US" dirty="0"/>
              <a:t>Soft-attention</a:t>
            </a:r>
          </a:p>
          <a:p>
            <a:pPr lvl="2"/>
            <a:r>
              <a:rPr lang="en-US" dirty="0"/>
              <a:t>a deterministic attention</a:t>
            </a:r>
          </a:p>
          <a:p>
            <a:pPr lvl="2"/>
            <a:r>
              <a:rPr lang="en-US" dirty="0"/>
              <a:t>uses a weighted average of all keys to building the context vector. </a:t>
            </a:r>
          </a:p>
          <a:p>
            <a:pPr lvl="2"/>
            <a:r>
              <a:rPr lang="en-US" dirty="0"/>
              <a:t>the attention module is differentiable with respect to the inputs, so the whole system can still be trained by standard back-propagation methods.</a:t>
            </a:r>
          </a:p>
          <a:p>
            <a:pPr lvl="1"/>
            <a:r>
              <a:rPr lang="en-US" dirty="0"/>
              <a:t>Hard-attention</a:t>
            </a:r>
          </a:p>
          <a:p>
            <a:pPr lvl="2"/>
            <a:r>
              <a:rPr lang="en-US" dirty="0"/>
              <a:t>a stochastic attention</a:t>
            </a:r>
          </a:p>
          <a:p>
            <a:pPr lvl="2"/>
            <a:r>
              <a:rPr lang="en-US" dirty="0"/>
              <a:t>the context vector is computed from stochastically sampled keys</a:t>
            </a:r>
          </a:p>
          <a:p>
            <a:pPr lvl="2"/>
            <a:r>
              <a:rPr lang="en-US" dirty="0"/>
              <a:t>computationally less expensive because it does not need to calculate attention weights of all elements at each time </a:t>
            </a:r>
          </a:p>
          <a:p>
            <a:pPr lvl="2"/>
            <a:r>
              <a:rPr lang="en-US" dirty="0"/>
              <a:t>making a hard decision at each position of the input feature will make the module non-differentiable and difficult to optimize, so the whole system can be trained by maximizing an approximate variational lower bound</a:t>
            </a:r>
          </a:p>
          <a:p>
            <a:pPr lvl="1"/>
            <a:r>
              <a:rPr lang="en-US" dirty="0"/>
              <a:t>global attention </a:t>
            </a:r>
          </a:p>
          <a:p>
            <a:pPr lvl="2"/>
            <a:r>
              <a:rPr lang="en-US" dirty="0"/>
              <a:t>similar to soft attention. </a:t>
            </a:r>
          </a:p>
          <a:p>
            <a:pPr lvl="1"/>
            <a:r>
              <a:rPr lang="en-US" dirty="0"/>
              <a:t>local attention </a:t>
            </a:r>
          </a:p>
          <a:p>
            <a:pPr lvl="2"/>
            <a:r>
              <a:rPr lang="en-US" dirty="0"/>
              <a:t>an interesting blend between the hard and soft attention, in which only a subset of source words are considered at a time. </a:t>
            </a:r>
          </a:p>
          <a:p>
            <a:pPr lvl="2"/>
            <a:r>
              <a:rPr lang="en-US" dirty="0"/>
              <a:t>computationally less expensive than global attention or soft attention. </a:t>
            </a:r>
          </a:p>
          <a:p>
            <a:pPr lvl="2"/>
            <a:r>
              <a:rPr lang="en-US" dirty="0"/>
              <a:t>differentiable almost everywhere, making it easier to implement and train.</a:t>
            </a:r>
          </a:p>
        </p:txBody>
      </p:sp>
    </p:spTree>
    <p:extLst>
      <p:ext uri="{BB962C8B-B14F-4D97-AF65-F5344CB8AC3E}">
        <p14:creationId xmlns:p14="http://schemas.microsoft.com/office/powerpoint/2010/main" val="611167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BC36-B0AB-0079-0869-5D9699C8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8DE98-26A2-DA59-8641-D7964A16F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Forms of the input features</a:t>
            </a:r>
          </a:p>
          <a:p>
            <a:pPr lvl="1"/>
            <a:r>
              <a:rPr lang="en-US" dirty="0"/>
              <a:t>item-wise </a:t>
            </a:r>
          </a:p>
          <a:p>
            <a:pPr lvl="2"/>
            <a:r>
              <a:rPr lang="en-US" dirty="0"/>
              <a:t>input is either explicit items or an additional preprocessing step is added to generate a sequence of items from the source data</a:t>
            </a:r>
          </a:p>
          <a:p>
            <a:pPr lvl="2"/>
            <a:r>
              <a:rPr lang="en-US" dirty="0"/>
              <a:t>the </a:t>
            </a:r>
            <a:r>
              <a:rPr lang="en-US" dirty="0" err="1"/>
              <a:t>encoderencodes</a:t>
            </a:r>
            <a:r>
              <a:rPr lang="en-US" dirty="0"/>
              <a:t> each item as a separate code, and assigns different </a:t>
            </a:r>
            <a:r>
              <a:rPr lang="en-US" dirty="0" err="1"/>
              <a:t>weightsto</a:t>
            </a:r>
            <a:r>
              <a:rPr lang="en-US" dirty="0"/>
              <a:t> them during decoding</a:t>
            </a:r>
          </a:p>
          <a:p>
            <a:pPr lvl="2"/>
            <a:r>
              <a:rPr lang="en-US" dirty="0"/>
              <a:t>E.g. single word embedding, single feature map</a:t>
            </a:r>
          </a:p>
          <a:p>
            <a:pPr lvl="2"/>
            <a:r>
              <a:rPr lang="en-US" dirty="0"/>
              <a:t>Computing perspective</a:t>
            </a:r>
          </a:p>
          <a:p>
            <a:pPr lvl="3"/>
            <a:r>
              <a:rPr lang="en-US" dirty="0"/>
              <a:t>item-wise soft attention calculates a weight for each item, and then makes a linear combination of them</a:t>
            </a:r>
          </a:p>
          <a:p>
            <a:pPr lvl="3"/>
            <a:r>
              <a:rPr lang="en-US" dirty="0"/>
              <a:t>item-wise hard attention stochastically picks one or </a:t>
            </a:r>
            <a:r>
              <a:rPr lang="en-US" dirty="0" err="1"/>
              <a:t>someitems</a:t>
            </a:r>
            <a:r>
              <a:rPr lang="en-US" dirty="0"/>
              <a:t> based on their probabilities.</a:t>
            </a:r>
          </a:p>
          <a:p>
            <a:pPr lvl="1"/>
            <a:r>
              <a:rPr lang="en-US" dirty="0"/>
              <a:t>location-wise</a:t>
            </a:r>
          </a:p>
          <a:p>
            <a:pPr lvl="2"/>
            <a:r>
              <a:rPr lang="en-US" dirty="0"/>
              <a:t>the decoder </a:t>
            </a:r>
          </a:p>
          <a:p>
            <a:pPr lvl="3"/>
            <a:r>
              <a:rPr lang="en-US" dirty="0"/>
              <a:t>processes the multi-resolution crop of the input image at each step </a:t>
            </a:r>
          </a:p>
          <a:p>
            <a:pPr lvl="3"/>
            <a:r>
              <a:rPr lang="en-US" dirty="0"/>
              <a:t>transforms the task related region into a canonical, expected pose to simplify inference in the subsequent layers</a:t>
            </a:r>
          </a:p>
          <a:p>
            <a:pPr lvl="2"/>
            <a:r>
              <a:rPr lang="en-US" dirty="0"/>
              <a:t>Computing perspective</a:t>
            </a:r>
          </a:p>
          <a:p>
            <a:pPr lvl="3"/>
            <a:r>
              <a:rPr lang="en-US" dirty="0"/>
              <a:t> location-wise soft attention accepts an entire feature map as input and generates a transformed version through the attention module</a:t>
            </a:r>
          </a:p>
          <a:p>
            <a:pPr lvl="3"/>
            <a:r>
              <a:rPr lang="en-US" dirty="0"/>
              <a:t>location-wise hard attention stochastically picks a sub-region as input and the location </a:t>
            </a:r>
            <a:r>
              <a:rPr lang="en-US" dirty="0" err="1"/>
              <a:t>ofthe</a:t>
            </a:r>
            <a:r>
              <a:rPr lang="en-US" dirty="0"/>
              <a:t> sub-region to be picked is calculated by the attention module</a:t>
            </a:r>
          </a:p>
        </p:txBody>
      </p:sp>
    </p:spTree>
    <p:extLst>
      <p:ext uri="{BB962C8B-B14F-4D97-AF65-F5344CB8AC3E}">
        <p14:creationId xmlns:p14="http://schemas.microsoft.com/office/powerpoint/2010/main" val="3871616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16DD-7120-0519-F566-1AC1D2F5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9DD1B-BD18-C4D5-C8A2-11BDDA27A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representation</a:t>
            </a:r>
          </a:p>
          <a:p>
            <a:pPr lvl="1"/>
            <a:r>
              <a:rPr lang="en-US" dirty="0"/>
              <a:t>Distinctive attention</a:t>
            </a:r>
          </a:p>
          <a:p>
            <a:pPr lvl="2"/>
            <a:r>
              <a:rPr lang="en-US" dirty="0"/>
              <a:t>a single input and corresponding output sequence</a:t>
            </a:r>
          </a:p>
          <a:p>
            <a:pPr lvl="2"/>
            <a:r>
              <a:rPr lang="en-US" dirty="0"/>
              <a:t>Keys and queries belong to two independent sequences</a:t>
            </a:r>
          </a:p>
          <a:p>
            <a:pPr lvl="1"/>
            <a:r>
              <a:rPr lang="en-US" dirty="0"/>
              <a:t>Co-attention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self (inner) attention which computes attention only based on the input sequence </a:t>
            </a:r>
          </a:p>
          <a:p>
            <a:pPr lvl="2"/>
            <a:r>
              <a:rPr lang="en-US" dirty="0"/>
              <a:t>query, key and value are different representations of the </a:t>
            </a:r>
            <a:r>
              <a:rPr lang="en-US" dirty="0" err="1"/>
              <a:t>sameinput</a:t>
            </a:r>
            <a:r>
              <a:rPr lang="en-US" dirty="0"/>
              <a:t> sequence</a:t>
            </a:r>
          </a:p>
        </p:txBody>
      </p:sp>
    </p:spTree>
    <p:extLst>
      <p:ext uri="{BB962C8B-B14F-4D97-AF65-F5344CB8AC3E}">
        <p14:creationId xmlns:p14="http://schemas.microsoft.com/office/powerpoint/2010/main" val="250802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1BD8-72B8-C1A0-47E6-3F9B5BB6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A3AC3-3AA4-1DC3-B6D6-AA2126A17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representation</a:t>
            </a:r>
          </a:p>
          <a:p>
            <a:pPr lvl="1"/>
            <a:r>
              <a:rPr lang="en-US" dirty="0"/>
              <a:t>Single-output</a:t>
            </a:r>
          </a:p>
          <a:p>
            <a:pPr lvl="1"/>
            <a:r>
              <a:rPr lang="en-US" dirty="0"/>
              <a:t>Multi-head attention</a:t>
            </a:r>
          </a:p>
          <a:p>
            <a:pPr lvl="1"/>
            <a:r>
              <a:rPr lang="en-US" dirty="0"/>
              <a:t>Multi-dimensional attention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3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08B9-41FD-7721-C205-D0088228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EF90-E2F2-05A0-CAB1-DAA06C751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 sparse attention, because instead of computing attention weights for all </a:t>
            </a:r>
            <a:r>
              <a:rPr lang="en-US" dirty="0" err="1"/>
              <a:t>n×nn</a:t>
            </a:r>
            <a:r>
              <a:rPr lang="en-US" dirty="0"/>
              <a:t> \times </a:t>
            </a:r>
            <a:r>
              <a:rPr lang="en-US" dirty="0" err="1"/>
              <a:t>nn×n</a:t>
            </a:r>
            <a:r>
              <a:rPr lang="en-US" dirty="0"/>
              <a:t> token pairs (dense), it restricts computation to a subset of positions (e.g., a sliding window). This reduces complexity from O(n2)O(n^2)O(n2) to approximately O(</a:t>
            </a:r>
            <a:r>
              <a:rPr lang="en-US" dirty="0" err="1"/>
              <a:t>n⋅k</a:t>
            </a:r>
            <a:r>
              <a:rPr lang="en-US" dirty="0"/>
              <a:t>)O(n \</a:t>
            </a:r>
            <a:r>
              <a:rPr lang="en-US" dirty="0" err="1"/>
              <a:t>cdot</a:t>
            </a:r>
            <a:r>
              <a:rPr lang="en-US" dirty="0"/>
              <a:t> k)O(</a:t>
            </a:r>
            <a:r>
              <a:rPr lang="en-US" dirty="0" err="1"/>
              <a:t>n⋅k</a:t>
            </a:r>
            <a:r>
              <a:rPr lang="en-US" dirty="0"/>
              <a:t>), where </a:t>
            </a:r>
            <a:r>
              <a:rPr lang="en-US" dirty="0" err="1"/>
              <a:t>kkk</a:t>
            </a:r>
            <a:r>
              <a:rPr lang="en-US" dirty="0"/>
              <a:t> is the average number of positions each token attends to.✅ Why is it “</a:t>
            </a:r>
            <a:r>
              <a:rPr lang="en-US" dirty="0" err="1"/>
              <a:t>sparse”?Dense</a:t>
            </a:r>
            <a:r>
              <a:rPr lang="en-US" dirty="0"/>
              <a:t> attention: Every token attends to every other token → full </a:t>
            </a:r>
            <a:r>
              <a:rPr lang="en-US" dirty="0" err="1"/>
              <a:t>n×nn</a:t>
            </a:r>
            <a:r>
              <a:rPr lang="en-US" dirty="0"/>
              <a:t> \times </a:t>
            </a:r>
            <a:r>
              <a:rPr lang="en-US" dirty="0" err="1"/>
              <a:t>nn×n</a:t>
            </a:r>
            <a:r>
              <a:rPr lang="en-US" dirty="0"/>
              <a:t> </a:t>
            </a:r>
            <a:r>
              <a:rPr lang="en-US" dirty="0" err="1"/>
              <a:t>matrix.Sparse</a:t>
            </a:r>
            <a:r>
              <a:rPr lang="en-US" dirty="0"/>
              <a:t> attention: Only a fraction of entries are computed (others are masked out).Local attention uses a band-diagonal mask, so most entries are zero (ignored).✅ Taxonomy of Sparse Attention </a:t>
            </a:r>
            <a:r>
              <a:rPr lang="en-US" dirty="0" err="1"/>
              <a:t>MechanismsSparse</a:t>
            </a:r>
            <a:r>
              <a:rPr lang="en-US" dirty="0"/>
              <a:t> attention patterns can be categorized by how they select positions:1. Fixed </a:t>
            </a:r>
            <a:r>
              <a:rPr lang="en-US" dirty="0" err="1"/>
              <a:t>PatternsSliding</a:t>
            </a:r>
            <a:r>
              <a:rPr lang="en-US" dirty="0"/>
              <a:t> Window (Local)Each token attends to neighbors within ± w </a:t>
            </a:r>
            <a:r>
              <a:rPr lang="en-US" dirty="0" err="1"/>
              <a:t>positions.Example</a:t>
            </a:r>
            <a:r>
              <a:rPr lang="en-US" dirty="0"/>
              <a:t>: </a:t>
            </a:r>
            <a:r>
              <a:rPr lang="en-US" dirty="0" err="1"/>
              <a:t>Longformer</a:t>
            </a:r>
            <a:r>
              <a:rPr lang="en-US" dirty="0"/>
              <a:t>, local attention in speech </a:t>
            </a:r>
            <a:r>
              <a:rPr lang="en-US" dirty="0" err="1"/>
              <a:t>models.Block-SparseSequence</a:t>
            </a:r>
            <a:r>
              <a:rPr lang="en-US" dirty="0"/>
              <a:t> divided into blocks; tokens attend within block and nearby </a:t>
            </a:r>
            <a:r>
              <a:rPr lang="en-US" dirty="0" err="1"/>
              <a:t>blocks.Example</a:t>
            </a:r>
            <a:r>
              <a:rPr lang="en-US" dirty="0"/>
              <a:t>: </a:t>
            </a:r>
            <a:r>
              <a:rPr lang="en-US" dirty="0" err="1"/>
              <a:t>BigBird</a:t>
            </a:r>
            <a:r>
              <a:rPr lang="en-US" dirty="0"/>
              <a:t>, Reformer (with hashing).2. Global </a:t>
            </a:r>
            <a:r>
              <a:rPr lang="en-US" dirty="0" err="1"/>
              <a:t>TokensA</a:t>
            </a:r>
            <a:r>
              <a:rPr lang="en-US" dirty="0"/>
              <a:t> few tokens (e.g., [CLS]) attend to all positions and vice </a:t>
            </a:r>
            <a:r>
              <a:rPr lang="en-US" dirty="0" err="1"/>
              <a:t>versa.Example</a:t>
            </a:r>
            <a:r>
              <a:rPr lang="en-US" dirty="0"/>
              <a:t>: </a:t>
            </a:r>
            <a:r>
              <a:rPr lang="en-US" dirty="0" err="1"/>
              <a:t>Longformer</a:t>
            </a:r>
            <a:r>
              <a:rPr lang="en-US" dirty="0"/>
              <a:t>, BigBird.3. Random </a:t>
            </a:r>
            <a:r>
              <a:rPr lang="en-US" dirty="0" err="1"/>
              <a:t>PatternsRandomly</a:t>
            </a:r>
            <a:r>
              <a:rPr lang="en-US" dirty="0"/>
              <a:t> selected positions per token to improve </a:t>
            </a:r>
            <a:r>
              <a:rPr lang="en-US" dirty="0" err="1"/>
              <a:t>connectivity.Example</a:t>
            </a:r>
            <a:r>
              <a:rPr lang="en-US" dirty="0"/>
              <a:t>: </a:t>
            </a:r>
            <a:r>
              <a:rPr lang="en-US" dirty="0" err="1"/>
              <a:t>BigBird</a:t>
            </a:r>
            <a:r>
              <a:rPr lang="en-US" dirty="0"/>
              <a:t> adds random links to avoid isolated regions.4. Dilated / </a:t>
            </a:r>
            <a:r>
              <a:rPr lang="en-US" dirty="0" err="1"/>
              <a:t>Strided</a:t>
            </a:r>
            <a:r>
              <a:rPr lang="en-US" dirty="0"/>
              <a:t> </a:t>
            </a:r>
            <a:r>
              <a:rPr lang="en-US" dirty="0" err="1"/>
              <a:t>PatternsTokens</a:t>
            </a:r>
            <a:r>
              <a:rPr lang="en-US" dirty="0"/>
              <a:t> attend at regular intervals (e.g., every d steps).Example: Sparse Transformers for images.5. Hybrid </a:t>
            </a:r>
            <a:r>
              <a:rPr lang="en-US" dirty="0" err="1"/>
              <a:t>PatternsCombine</a:t>
            </a:r>
            <a:r>
              <a:rPr lang="en-US" dirty="0"/>
              <a:t> multiple strategies (window + global + random).Example: </a:t>
            </a:r>
            <a:r>
              <a:rPr lang="en-US" dirty="0" err="1"/>
              <a:t>BigBird</a:t>
            </a:r>
            <a:r>
              <a:rPr lang="en-US" dirty="0"/>
              <a:t> uses all three.6. Learnable </a:t>
            </a:r>
            <a:r>
              <a:rPr lang="en-US" dirty="0" err="1"/>
              <a:t>PatternsAttention</a:t>
            </a:r>
            <a:r>
              <a:rPr lang="en-US" dirty="0"/>
              <a:t> sparsity learned during training (dynamic).Example: Routing Transformers, Adaptive Sparse Attention.</a:t>
            </a:r>
          </a:p>
        </p:txBody>
      </p:sp>
    </p:spTree>
    <p:extLst>
      <p:ext uri="{BB962C8B-B14F-4D97-AF65-F5344CB8AC3E}">
        <p14:creationId xmlns:p14="http://schemas.microsoft.com/office/powerpoint/2010/main" val="156470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2359-A882-4141-FC43-3E717FA4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1C7C6-B8E3-E827-DB6D-BBB39EBA2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t" hangingPunct="1"/>
            <a:r>
              <a:rPr lang="en-US" b="1" dirty="0"/>
              <a:t>1. Soft Attention</a:t>
            </a:r>
            <a:endParaRPr lang="en-US" dirty="0"/>
          </a:p>
          <a:p>
            <a:pPr eaLnBrk="1" fontAlgn="t" hangingPunct="1"/>
            <a:r>
              <a:rPr lang="en-US" b="1" dirty="0"/>
              <a:t>Description</a:t>
            </a:r>
            <a:r>
              <a:rPr lang="en-US" dirty="0"/>
              <a:t>: Computes a weighted sum of all input features, where weights represent relevance.</a:t>
            </a:r>
          </a:p>
          <a:p>
            <a:pPr eaLnBrk="1" fontAlgn="t" hangingPunct="1"/>
            <a:r>
              <a:rPr lang="en-US" b="1" dirty="0"/>
              <a:t>How it works</a:t>
            </a:r>
            <a:r>
              <a:rPr lang="en-US" dirty="0"/>
              <a:t>: Uses a scoring function (e.g., dot product, additive) to assign attention weights, normalized via </a:t>
            </a:r>
            <a:r>
              <a:rPr lang="en-US" b="1" dirty="0" err="1"/>
              <a:t>softmax</a:t>
            </a:r>
            <a:r>
              <a:rPr lang="en-US" dirty="0"/>
              <a:t>.</a:t>
            </a:r>
          </a:p>
          <a:p>
            <a:pPr eaLnBrk="1" fontAlgn="t" hangingPunct="1"/>
            <a:r>
              <a:rPr lang="en-US" b="1" dirty="0"/>
              <a:t>Applications</a:t>
            </a:r>
            <a:r>
              <a:rPr lang="en-US" dirty="0"/>
              <a:t>: Machine translation, image captioning.</a:t>
            </a:r>
          </a:p>
          <a:p>
            <a:pPr eaLnBrk="1" fontAlgn="t" hangingPunct="1"/>
            <a:r>
              <a:rPr lang="en-US" b="1" dirty="0"/>
              <a:t>Pros</a:t>
            </a:r>
            <a:r>
              <a:rPr lang="en-US" dirty="0"/>
              <a:t>: Differentiable and trainable end-to-end.</a:t>
            </a:r>
          </a:p>
          <a:p>
            <a:pPr eaLnBrk="1" fontAlgn="t" hangingPunct="1"/>
            <a:r>
              <a:rPr lang="en-US" b="1" dirty="0"/>
              <a:t>Cons</a:t>
            </a:r>
            <a:r>
              <a:rPr lang="en-US" dirty="0"/>
              <a:t>: Computationally expensive for long sequences.</a:t>
            </a:r>
          </a:p>
          <a:p>
            <a:pPr eaLnBrk="1" fontAlgn="t" hangingPunct="1"/>
            <a:br>
              <a:rPr lang="en-US" dirty="0"/>
            </a:br>
            <a:endParaRPr lang="en-US" dirty="0"/>
          </a:p>
          <a:p>
            <a:pPr eaLnBrk="1" fontAlgn="t" hangingPunct="1"/>
            <a:r>
              <a:rPr lang="en-US" b="1" dirty="0"/>
              <a:t>2. Hard Attention</a:t>
            </a:r>
            <a:endParaRPr lang="en-US" dirty="0"/>
          </a:p>
          <a:p>
            <a:pPr eaLnBrk="1" fontAlgn="t" hangingPunct="1"/>
            <a:r>
              <a:rPr lang="en-US" b="1" dirty="0"/>
              <a:t>Description</a:t>
            </a:r>
            <a:r>
              <a:rPr lang="en-US" dirty="0"/>
              <a:t>: Selects a subset of inputs (discrete choice) rather than weighting all.</a:t>
            </a:r>
          </a:p>
          <a:p>
            <a:pPr eaLnBrk="1" fontAlgn="t" hangingPunct="1"/>
            <a:r>
              <a:rPr lang="en-US" b="1" dirty="0"/>
              <a:t>How it works</a:t>
            </a:r>
            <a:r>
              <a:rPr lang="en-US" dirty="0"/>
              <a:t>: Uses sampling or reinforcement learning to pick positions.</a:t>
            </a:r>
          </a:p>
          <a:p>
            <a:pPr eaLnBrk="1" fontAlgn="t" hangingPunct="1"/>
            <a:r>
              <a:rPr lang="en-US" b="1" dirty="0"/>
              <a:t>Applications</a:t>
            </a:r>
            <a:r>
              <a:rPr lang="en-US" dirty="0"/>
              <a:t>: Image regions in visual question answering.</a:t>
            </a:r>
          </a:p>
          <a:p>
            <a:pPr eaLnBrk="1" fontAlgn="t" hangingPunct="1"/>
            <a:r>
              <a:rPr lang="en-US" b="1" dirty="0"/>
              <a:t>Pros</a:t>
            </a:r>
            <a:r>
              <a:rPr lang="en-US" dirty="0"/>
              <a:t>: More efficient than soft attention.</a:t>
            </a:r>
          </a:p>
          <a:p>
            <a:pPr eaLnBrk="1" fontAlgn="t" hangingPunct="1"/>
            <a:r>
              <a:rPr lang="en-US" b="1" dirty="0"/>
              <a:t>Cons</a:t>
            </a:r>
            <a:r>
              <a:rPr lang="en-US" dirty="0"/>
              <a:t>: Non-differentiable → requires complex training (e.g., REINFORCE).</a:t>
            </a:r>
          </a:p>
          <a:p>
            <a:pPr eaLnBrk="1" fontAlgn="t" hangingPunct="1"/>
            <a:br>
              <a:rPr lang="en-US" dirty="0"/>
            </a:br>
            <a:endParaRPr lang="en-US" dirty="0"/>
          </a:p>
          <a:p>
            <a:pPr eaLnBrk="1" fontAlgn="t" hangingPunct="1"/>
            <a:r>
              <a:rPr lang="en-US" b="1" dirty="0"/>
              <a:t>3. Self-Attention (Intra-Attention)</a:t>
            </a:r>
            <a:endParaRPr lang="en-US" dirty="0"/>
          </a:p>
          <a:p>
            <a:pPr eaLnBrk="1" fontAlgn="t" hangingPunct="1"/>
            <a:r>
              <a:rPr lang="en-US" b="1" dirty="0"/>
              <a:t>Description</a:t>
            </a:r>
            <a:r>
              <a:rPr lang="en-US" dirty="0"/>
              <a:t>: Each element in a sequence attends to all other elements.</a:t>
            </a:r>
          </a:p>
          <a:p>
            <a:pPr eaLnBrk="1" fontAlgn="t" hangingPunct="1"/>
            <a:r>
              <a:rPr lang="en-US" b="1" dirty="0"/>
              <a:t>How it works</a:t>
            </a:r>
            <a:r>
              <a:rPr lang="en-US" dirty="0"/>
              <a:t>: Computes attention scores between every pair of tokens.</a:t>
            </a:r>
          </a:p>
          <a:p>
            <a:pPr eaLnBrk="1" fontAlgn="t" hangingPunct="1"/>
            <a:r>
              <a:rPr lang="en-US" b="1" dirty="0"/>
              <a:t>Applications</a:t>
            </a:r>
            <a:r>
              <a:rPr lang="en-US" dirty="0"/>
              <a:t>: </a:t>
            </a:r>
            <a:r>
              <a:rPr lang="en-US" b="1" dirty="0"/>
              <a:t>Transformers</a:t>
            </a:r>
            <a:r>
              <a:rPr lang="en-US" dirty="0"/>
              <a:t> (BERT, GPT), summarization, speech recognition.</a:t>
            </a:r>
          </a:p>
          <a:p>
            <a:pPr eaLnBrk="1" fontAlgn="t" hangingPunct="1"/>
            <a:r>
              <a:rPr lang="en-US" b="1" dirty="0"/>
              <a:t>Pros</a:t>
            </a:r>
            <a:r>
              <a:rPr lang="en-US" dirty="0"/>
              <a:t>: Captures long-range dependencies.</a:t>
            </a:r>
          </a:p>
          <a:p>
            <a:pPr eaLnBrk="1" fontAlgn="t" hangingPunct="1"/>
            <a:r>
              <a:rPr lang="en-US" b="1" dirty="0"/>
              <a:t>Cons</a:t>
            </a:r>
            <a:r>
              <a:rPr lang="en-US" dirty="0"/>
              <a:t>: Quadratic complexity in sequence length.</a:t>
            </a:r>
          </a:p>
          <a:p>
            <a:pPr eaLnBrk="1" fontAlgn="t" hangingPunct="1"/>
            <a:br>
              <a:rPr lang="en-US" dirty="0"/>
            </a:br>
            <a:endParaRPr lang="en-US" dirty="0"/>
          </a:p>
          <a:p>
            <a:pPr eaLnBrk="1" fontAlgn="t" hangingPunct="1"/>
            <a:r>
              <a:rPr lang="en-US" b="1" dirty="0"/>
              <a:t>4. Multi-Head Attention</a:t>
            </a:r>
            <a:endParaRPr lang="en-US" dirty="0"/>
          </a:p>
          <a:p>
            <a:pPr eaLnBrk="1" fontAlgn="t" hangingPunct="1"/>
            <a:r>
              <a:rPr lang="en-US" b="1" dirty="0"/>
              <a:t>Description</a:t>
            </a:r>
            <a:r>
              <a:rPr lang="en-US" dirty="0"/>
              <a:t>: Runs multiple self-attention mechanisms in parallel.</a:t>
            </a:r>
          </a:p>
          <a:p>
            <a:pPr eaLnBrk="1" fontAlgn="t" hangingPunct="1"/>
            <a:r>
              <a:rPr lang="en-US" b="1" dirty="0"/>
              <a:t>How it works</a:t>
            </a:r>
            <a:r>
              <a:rPr lang="en-US" dirty="0"/>
              <a:t>: Each head learns different relationships; outputs are concatenated and projected.</a:t>
            </a:r>
          </a:p>
          <a:p>
            <a:pPr eaLnBrk="1" fontAlgn="t" hangingPunct="1"/>
            <a:r>
              <a:rPr lang="en-US" b="1" dirty="0"/>
              <a:t>Applications</a:t>
            </a:r>
            <a:r>
              <a:rPr lang="en-US" dirty="0"/>
              <a:t>: Core of Transformer architecture.</a:t>
            </a:r>
          </a:p>
          <a:p>
            <a:pPr eaLnBrk="1" fontAlgn="t" hangingPunct="1"/>
            <a:r>
              <a:rPr lang="en-US" b="1" dirty="0"/>
              <a:t>Pros</a:t>
            </a:r>
            <a:r>
              <a:rPr lang="en-US" dirty="0"/>
              <a:t>: Improves representation power.</a:t>
            </a:r>
          </a:p>
          <a:p>
            <a:pPr eaLnBrk="1" fontAlgn="t" hangingPunct="1"/>
            <a:r>
              <a:rPr lang="en-US" b="1" dirty="0"/>
              <a:t>Cons</a:t>
            </a:r>
            <a:r>
              <a:rPr lang="en-US" dirty="0"/>
              <a:t>: Higher computational cost.</a:t>
            </a:r>
          </a:p>
          <a:p>
            <a:pPr eaLnBrk="1" fontAlgn="t" hangingPunct="1"/>
            <a:br>
              <a:rPr lang="en-US" dirty="0"/>
            </a:br>
            <a:endParaRPr lang="en-US" dirty="0"/>
          </a:p>
          <a:p>
            <a:pPr eaLnBrk="1" fontAlgn="t" hangingPunct="1"/>
            <a:r>
              <a:rPr lang="en-US" b="1" dirty="0"/>
              <a:t>5. Cross-Attention</a:t>
            </a:r>
            <a:endParaRPr lang="en-US" dirty="0"/>
          </a:p>
          <a:p>
            <a:pPr eaLnBrk="1" fontAlgn="t" hangingPunct="1"/>
            <a:r>
              <a:rPr lang="en-US" b="1" dirty="0"/>
              <a:t>Description</a:t>
            </a:r>
            <a:r>
              <a:rPr lang="en-US" dirty="0"/>
              <a:t>: One sequence attends to another (e.g., decoder attends to encoder outputs).</a:t>
            </a:r>
          </a:p>
          <a:p>
            <a:pPr eaLnBrk="1" fontAlgn="t" hangingPunct="1"/>
            <a:r>
              <a:rPr lang="en-US" b="1" dirty="0"/>
              <a:t>Applications</a:t>
            </a:r>
            <a:r>
              <a:rPr lang="en-US" dirty="0"/>
              <a:t>: Machine translation, multimodal models (text + image).</a:t>
            </a:r>
          </a:p>
          <a:p>
            <a:pPr eaLnBrk="1" fontAlgn="t" hangingPunct="1"/>
            <a:r>
              <a:rPr lang="en-US" b="1" dirty="0"/>
              <a:t>Pros</a:t>
            </a:r>
            <a:r>
              <a:rPr lang="en-US" dirty="0"/>
              <a:t>: Enables interaction between different modalities or stages.</a:t>
            </a:r>
          </a:p>
          <a:p>
            <a:pPr eaLnBrk="1" fontAlgn="t" hangingPunct="1"/>
            <a:br>
              <a:rPr lang="en-US" dirty="0"/>
            </a:br>
            <a:endParaRPr lang="en-US" dirty="0"/>
          </a:p>
          <a:p>
            <a:pPr eaLnBrk="1" fontAlgn="t" hangingPunct="1"/>
            <a:r>
              <a:rPr lang="en-US" b="1" dirty="0"/>
              <a:t>6. Local Attention</a:t>
            </a:r>
            <a:endParaRPr lang="en-US" dirty="0"/>
          </a:p>
          <a:p>
            <a:pPr eaLnBrk="1" fontAlgn="t" hangingPunct="1"/>
            <a:r>
              <a:rPr lang="en-US" b="1" dirty="0"/>
              <a:t>Description</a:t>
            </a:r>
            <a:r>
              <a:rPr lang="en-US" dirty="0"/>
              <a:t>: Restricts attention to a neighborhood around each token.</a:t>
            </a:r>
          </a:p>
          <a:p>
            <a:pPr eaLnBrk="1" fontAlgn="t" hangingPunct="1"/>
            <a:r>
              <a:rPr lang="en-US" b="1" dirty="0"/>
              <a:t>Applications</a:t>
            </a:r>
            <a:r>
              <a:rPr lang="en-US" dirty="0"/>
              <a:t>: Long sequence modeling (e.g., speech, DNA).</a:t>
            </a:r>
          </a:p>
          <a:p>
            <a:pPr eaLnBrk="1" fontAlgn="t" hangingPunct="1"/>
            <a:r>
              <a:rPr lang="en-US" b="1" dirty="0"/>
              <a:t>Pros</a:t>
            </a:r>
            <a:r>
              <a:rPr lang="en-US" dirty="0"/>
              <a:t>: Reduces complexity.</a:t>
            </a:r>
          </a:p>
          <a:p>
            <a:pPr eaLnBrk="1" fontAlgn="t" hangingPunct="1"/>
            <a:r>
              <a:rPr lang="en-US" b="1" dirty="0"/>
              <a:t>Cons</a:t>
            </a:r>
            <a:r>
              <a:rPr lang="en-US" dirty="0"/>
              <a:t>: May miss global context.</a:t>
            </a:r>
          </a:p>
          <a:p>
            <a:pPr eaLnBrk="1" fontAlgn="t" hangingPunct="1"/>
            <a:br>
              <a:rPr lang="en-US" dirty="0"/>
            </a:br>
            <a:endParaRPr lang="en-US" dirty="0"/>
          </a:p>
          <a:p>
            <a:pPr eaLnBrk="1" fontAlgn="t" hangingPunct="1"/>
            <a:r>
              <a:rPr lang="en-US" b="1" dirty="0"/>
              <a:t>7. Sparse Attention</a:t>
            </a:r>
            <a:endParaRPr lang="en-US" dirty="0"/>
          </a:p>
          <a:p>
            <a:pPr eaLnBrk="1" fontAlgn="t" hangingPunct="1"/>
            <a:r>
              <a:rPr lang="en-US" b="1" dirty="0"/>
              <a:t>Description</a:t>
            </a:r>
            <a:r>
              <a:rPr lang="en-US" dirty="0"/>
              <a:t>: Only attends to a subset of tokens based on a pattern (e.g., fixed, learned).</a:t>
            </a:r>
          </a:p>
          <a:p>
            <a:pPr eaLnBrk="1" fontAlgn="t" hangingPunct="1"/>
            <a:r>
              <a:rPr lang="en-US" b="1" dirty="0"/>
              <a:t>Applications</a:t>
            </a:r>
            <a:r>
              <a:rPr lang="en-US" dirty="0"/>
              <a:t>: </a:t>
            </a:r>
            <a:r>
              <a:rPr lang="en-US" dirty="0" err="1"/>
              <a:t>Longformer</a:t>
            </a:r>
            <a:r>
              <a:rPr lang="en-US" dirty="0"/>
              <a:t>, </a:t>
            </a:r>
            <a:r>
              <a:rPr lang="en-US" dirty="0" err="1"/>
              <a:t>BigBird</a:t>
            </a:r>
            <a:r>
              <a:rPr lang="en-US" dirty="0"/>
              <a:t> for long documents.</a:t>
            </a:r>
          </a:p>
          <a:p>
            <a:pPr eaLnBrk="1" fontAlgn="t" hangingPunct="1"/>
            <a:r>
              <a:rPr lang="en-US" b="1" dirty="0"/>
              <a:t>Pros</a:t>
            </a:r>
            <a:r>
              <a:rPr lang="en-US" dirty="0"/>
              <a:t>: Scales to very long sequences.</a:t>
            </a:r>
          </a:p>
          <a:p>
            <a:pPr eaLnBrk="1" fontAlgn="t" hangingPunct="1"/>
            <a:r>
              <a:rPr lang="en-US" b="1" dirty="0"/>
              <a:t>Cons</a:t>
            </a:r>
            <a:r>
              <a:rPr lang="en-US" dirty="0"/>
              <a:t>: Requires careful design of sparsity pattern.</a:t>
            </a:r>
          </a:p>
          <a:p>
            <a:pPr eaLnBrk="1" fontAlgn="t" hangingPunct="1"/>
            <a:br>
              <a:rPr lang="en-US" dirty="0"/>
            </a:br>
            <a:endParaRPr lang="en-US" dirty="0"/>
          </a:p>
          <a:p>
            <a:pPr eaLnBrk="1" fontAlgn="t" hangingPunct="1"/>
            <a:r>
              <a:rPr lang="en-US" b="1" dirty="0"/>
              <a:t>8. Hierarchical Attention</a:t>
            </a:r>
            <a:endParaRPr lang="en-US" dirty="0"/>
          </a:p>
          <a:p>
            <a:pPr eaLnBrk="1" fontAlgn="t" hangingPunct="1"/>
            <a:r>
              <a:rPr lang="en-US" b="1" dirty="0"/>
              <a:t>Description</a:t>
            </a:r>
            <a:r>
              <a:rPr lang="en-US" dirty="0"/>
              <a:t>: Applies attention at multiple levels (e.g., word-level, sentence-level).</a:t>
            </a:r>
          </a:p>
          <a:p>
            <a:pPr eaLnBrk="1" fontAlgn="t" hangingPunct="1"/>
            <a:r>
              <a:rPr lang="en-US" b="1" dirty="0"/>
              <a:t>Applications</a:t>
            </a:r>
            <a:r>
              <a:rPr lang="en-US" dirty="0"/>
              <a:t>: Document classification.</a:t>
            </a:r>
          </a:p>
          <a:p>
            <a:pPr eaLnBrk="1" fontAlgn="t" hangingPunct="1"/>
            <a:r>
              <a:rPr lang="en-US" b="1" dirty="0"/>
              <a:t>Pros</a:t>
            </a:r>
            <a:r>
              <a:rPr lang="en-US" dirty="0"/>
              <a:t>: Captures structure in data.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ED9F4-7E0F-585E-FAA0-7B4D9D6BB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852936"/>
            <a:ext cx="6668431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0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308D-DFEB-922A-F1E0-E2517559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65068-5755-B00D-87D7-77F46BA42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396F1-CB45-3D01-10E0-D31046C55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8" y="1340768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84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9370-42C8-02FB-3E6F-0BFEF4BB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3AE14-A4E1-E373-E9AE-E9A2FB815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 attention</a:t>
            </a:r>
          </a:p>
          <a:p>
            <a:pPr lvl="1"/>
            <a:r>
              <a:rPr lang="en-US" dirty="0"/>
              <a:t>single query → encoder keys</a:t>
            </a:r>
          </a:p>
          <a:p>
            <a:pPr lvl="1"/>
            <a:r>
              <a:rPr lang="en-US" dirty="0"/>
              <a:t>one query produces a 1‑D distribution over the source tokens.</a:t>
            </a:r>
          </a:p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E106C26-23DD-48A6-1705-8085290A5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429000"/>
            <a:ext cx="9144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28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AB0F8-308D-6153-5C11-E947FA90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E1702B-4CDD-B2E8-3F25-F63032961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625656"/>
              </p:ext>
            </p:extLst>
          </p:nvPr>
        </p:nvGraphicFramePr>
        <p:xfrm>
          <a:off x="457200" y="1965960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53407766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702456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79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Attention Mechanism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Complexity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040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Soft Attention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O(n)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64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Hard Attention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O(n)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6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Self-Attention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O(n²)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727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Multi-Head Attention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O(h · n²)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272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Local Attention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O(n · w)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407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Sparse Attention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O(n · √n)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6151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E5AB1E-813A-DA20-24AB-B22176B31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281326"/>
              </p:ext>
            </p:extLst>
          </p:nvPr>
        </p:nvGraphicFramePr>
        <p:xfrm>
          <a:off x="457200" y="5517232"/>
          <a:ext cx="8229600" cy="668655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1907402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(n = sequence length, d = dimension, h = number of heads, w = window size)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4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9054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21329"/>
      </p:ext>
    </p:extLst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24106</TotalTime>
  <Words>1292</Words>
  <Application>Microsoft Office PowerPoint</Application>
  <PresentationFormat>On-screen Show (4:3)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Garamond</vt:lpstr>
      <vt:lpstr>Segoe UI</vt:lpstr>
      <vt:lpstr>Times New Roman</vt:lpstr>
      <vt:lpstr>Verdana</vt:lpstr>
      <vt:lpstr>Wingdings</vt:lpstr>
      <vt:lpstr>Level</vt:lpstr>
      <vt:lpstr>METODE INTELIGENTE DE REZOLVARE  A PROBLEMELOR REALE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Laura</dc:creator>
  <cp:lastModifiedBy>Laura Silvia Diosan</cp:lastModifiedBy>
  <cp:revision>344</cp:revision>
  <dcterms:created xsi:type="dcterms:W3CDTF">2010-06-29T05:35:38Z</dcterms:created>
  <dcterms:modified xsi:type="dcterms:W3CDTF">2025-12-17T19:03:48Z</dcterms:modified>
</cp:coreProperties>
</file>